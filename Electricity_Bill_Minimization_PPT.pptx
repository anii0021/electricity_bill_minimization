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13716000" cy="24384000"/>
  <p:embeddedFontLst>
    <p:embeddedFont>
      <p:font typeface="Liter" panose="020B0604020202020204" charset="0"/>
      <p:regular r:id="rId15"/>
    </p:embeddedFont>
    <p:embeddedFont>
      <p:font typeface="Quattrocento Sans" panose="020F050202020403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9" y="-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(Peak)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AirConditioner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6371726</c:v>
                </c:pt>
                <c:pt idx="1">
                  <c:v>9885231</c:v>
                </c:pt>
                <c:pt idx="2">
                  <c:v>684942</c:v>
                </c:pt>
                <c:pt idx="3">
                  <c:v>5694026</c:v>
                </c:pt>
                <c:pt idx="4">
                  <c:v>1304821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38-45EA-882B-5F9C67760D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(Off-Peak)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Fan</c:v>
                </c:pt>
                <c:pt idx="1">
                  <c:v>Refrigerator</c:v>
                </c:pt>
                <c:pt idx="2">
                  <c:v>AirConditioner</c:v>
                </c:pt>
                <c:pt idx="3">
                  <c:v>Television</c:v>
                </c:pt>
                <c:pt idx="4">
                  <c:v>Monitor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4247817</c:v>
                </c:pt>
                <c:pt idx="1">
                  <c:v>6590154</c:v>
                </c:pt>
                <c:pt idx="2">
                  <c:v>456628</c:v>
                </c:pt>
                <c:pt idx="3">
                  <c:v>3796017</c:v>
                </c:pt>
                <c:pt idx="4">
                  <c:v>869881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38-45EA-882B-5F9C67760D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Annual Cost (Rs.)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F4-4B76-AFE4-FCC0E2C40EFC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F4-4B76-AFE4-FCC0E2C40EF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F4-4B76-AFE4-FCC0E2C40EF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F4-4B76-AFE4-FCC0E2C40EF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Optimized Cost</c:v>
                </c:pt>
                <c:pt idx="1">
                  <c:v>Savings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66.7</c:v>
                </c:pt>
                <c:pt idx="1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F4-4B76-AFE4-FCC0E2C40E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968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wjt3i6fgyjdw/mnt/agents/output/isi_electricity_lp/images/1_Powerlines_Night_Images_Browse_3.png"/>
          <p:cNvPicPr>
            <a:picLocks noChangeAspect="1"/>
          </p:cNvPicPr>
          <p:nvPr/>
        </p:nvPicPr>
        <p:blipFill>
          <a:blip r:embed="rId3"/>
          <a:srcRect l="1589" r="1589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A1A1A">
                  <a:alpha val="56000"/>
                </a:srgbClr>
              </a:gs>
              <a:gs pos="100000">
                <a:srgbClr val="10B981">
                  <a:alpha val="5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7780000" y="6350000"/>
            <a:ext cx="4826000" cy="4826000"/>
          </a:xfrm>
          <a:prstGeom prst="ellipse">
            <a:avLst/>
          </a:prstGeom>
          <a:solidFill>
            <a:srgbClr val="10B981">
              <a:alpha val="9412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9685000" y="8255000"/>
            <a:ext cx="3302000" cy="3302000"/>
          </a:xfrm>
          <a:prstGeom prst="ellipse">
            <a:avLst/>
          </a:prstGeom>
          <a:solidFill>
            <a:srgbClr val="1A1A1A">
              <a:alpha val="7059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6510000" y="9525000"/>
            <a:ext cx="635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5240000" y="7620000"/>
            <a:ext cx="38100" cy="3810000"/>
          </a:xfrm>
          <a:prstGeom prst="rect">
            <a:avLst/>
          </a:prstGeom>
          <a:solidFill>
            <a:srgbClr val="1A1A1A">
              <a:alpha val="12549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371600" y="1778000"/>
            <a:ext cx="2540000" cy="10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905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443700" y="1346200"/>
            <a:ext cx="3683000" cy="261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70000" y="5334000"/>
            <a:ext cx="21844000" cy="317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Electricity Bill Minimization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Linear Programming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70000" y="8763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Indian Statistical Institute, Kolkata | BSDS | April 2026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 rot="16200000">
            <a:off x="0" y="10528300"/>
            <a:ext cx="30607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kern="0" spc="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ISI KOLKATA | BSDS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25000" y="254000"/>
            <a:ext cx="1905000" cy="190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540000"/>
            <a:ext cx="11430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 electricity bills depend not only on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much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energy is consumed, but also on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is consumed.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formulate the bill minimization problem as a </a:t>
            </a: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 (LP)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 a two-period peak/off-peak tariff structure.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45,345 household-month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observations from a Kaggle dataset, we prove analytically that optimal scheduling yields exactly </a:t>
            </a: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33.3% savings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annual bill falls from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Rs.2.39 Cr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Rs.1.60 Cr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saving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Rs.79.8 lakhs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an efficiency of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Rs.3.35/kWh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70000" y="2540000"/>
            <a:ext cx="9144000" cy="1778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7" name="Shape 5"/>
          <p:cNvSpPr/>
          <p:nvPr/>
        </p:nvSpPr>
        <p:spPr>
          <a:xfrm>
            <a:off x="14390688" y="2921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555625" y="255240"/>
                </a:moveTo>
                <a:cubicBezTo>
                  <a:pt x="537270" y="267395"/>
                  <a:pt x="516186" y="277192"/>
                  <a:pt x="494233" y="285006"/>
                </a:cubicBezTo>
                <a:cubicBezTo>
                  <a:pt x="435942" y="305842"/>
                  <a:pt x="359420" y="317500"/>
                  <a:pt x="277813" y="317500"/>
                </a:cubicBezTo>
                <a:cubicBezTo>
                  <a:pt x="196205" y="317500"/>
                  <a:pt x="119559" y="305718"/>
                  <a:pt x="61392" y="285006"/>
                </a:cubicBezTo>
                <a:cubicBezTo>
                  <a:pt x="39563" y="277192"/>
                  <a:pt x="18355" y="267395"/>
                  <a:pt x="0" y="255240"/>
                </a:cubicBezTo>
                <a:lnTo>
                  <a:pt x="0" y="357188"/>
                </a:lnTo>
                <a:cubicBezTo>
                  <a:pt x="0" y="412006"/>
                  <a:pt x="124396" y="456406"/>
                  <a:pt x="277813" y="456406"/>
                </a:cubicBezTo>
                <a:cubicBezTo>
                  <a:pt x="431229" y="456406"/>
                  <a:pt x="555625" y="412006"/>
                  <a:pt x="555625" y="357188"/>
                </a:cubicBezTo>
                <a:lnTo>
                  <a:pt x="555625" y="255240"/>
                </a:lnTo>
                <a:close/>
                <a:moveTo>
                  <a:pt x="555625" y="158750"/>
                </a:moveTo>
                <a:lnTo>
                  <a:pt x="555625" y="99219"/>
                </a:lnTo>
                <a:cubicBezTo>
                  <a:pt x="555625" y="44400"/>
                  <a:pt x="431229" y="0"/>
                  <a:pt x="277813" y="0"/>
                </a:cubicBezTo>
                <a:cubicBezTo>
                  <a:pt x="124396" y="0"/>
                  <a:pt x="0" y="44400"/>
                  <a:pt x="0" y="99219"/>
                </a:cubicBezTo>
                <a:lnTo>
                  <a:pt x="0" y="158750"/>
                </a:lnTo>
                <a:cubicBezTo>
                  <a:pt x="0" y="213568"/>
                  <a:pt x="124396" y="257969"/>
                  <a:pt x="277813" y="257969"/>
                </a:cubicBezTo>
                <a:cubicBezTo>
                  <a:pt x="431229" y="257969"/>
                  <a:pt x="555625" y="213568"/>
                  <a:pt x="555625" y="158750"/>
                </a:cubicBezTo>
                <a:close/>
                <a:moveTo>
                  <a:pt x="494233" y="483443"/>
                </a:moveTo>
                <a:cubicBezTo>
                  <a:pt x="436066" y="504155"/>
                  <a:pt x="359544" y="515937"/>
                  <a:pt x="277813" y="515937"/>
                </a:cubicBezTo>
                <a:cubicBezTo>
                  <a:pt x="196081" y="515937"/>
                  <a:pt x="119559" y="504155"/>
                  <a:pt x="61392" y="483443"/>
                </a:cubicBezTo>
                <a:cubicBezTo>
                  <a:pt x="39563" y="475630"/>
                  <a:pt x="18355" y="465832"/>
                  <a:pt x="0" y="453678"/>
                </a:cubicBezTo>
                <a:lnTo>
                  <a:pt x="0" y="535781"/>
                </a:lnTo>
                <a:cubicBezTo>
                  <a:pt x="0" y="590600"/>
                  <a:pt x="124396" y="635000"/>
                  <a:pt x="277813" y="635000"/>
                </a:cubicBezTo>
                <a:cubicBezTo>
                  <a:pt x="431229" y="635000"/>
                  <a:pt x="555625" y="590600"/>
                  <a:pt x="555625" y="535781"/>
                </a:cubicBezTo>
                <a:lnTo>
                  <a:pt x="555625" y="453678"/>
                </a:lnTo>
                <a:cubicBezTo>
                  <a:pt x="537270" y="465832"/>
                  <a:pt x="516186" y="475630"/>
                  <a:pt x="494233" y="48344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0" y="2794000"/>
            <a:ext cx="749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45,345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household-month observations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970000" y="4508500"/>
            <a:ext cx="9144000" cy="1778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14390688" y="48895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420191" y="-12278"/>
                </a:moveTo>
                <a:cubicBezTo>
                  <a:pt x="434950" y="-1612"/>
                  <a:pt x="440407" y="17735"/>
                  <a:pt x="433710" y="34603"/>
                </a:cubicBezTo>
                <a:lnTo>
                  <a:pt x="336476" y="277813"/>
                </a:lnTo>
                <a:lnTo>
                  <a:pt x="515937" y="277813"/>
                </a:lnTo>
                <a:cubicBezTo>
                  <a:pt x="532681" y="277813"/>
                  <a:pt x="547563" y="288230"/>
                  <a:pt x="553269" y="303981"/>
                </a:cubicBezTo>
                <a:cubicBezTo>
                  <a:pt x="558974" y="319732"/>
                  <a:pt x="554137" y="337344"/>
                  <a:pt x="541362" y="348010"/>
                </a:cubicBezTo>
                <a:lnTo>
                  <a:pt x="184175" y="645666"/>
                </a:lnTo>
                <a:cubicBezTo>
                  <a:pt x="170160" y="657324"/>
                  <a:pt x="150192" y="657944"/>
                  <a:pt x="135434" y="647278"/>
                </a:cubicBezTo>
                <a:cubicBezTo>
                  <a:pt x="120675" y="636612"/>
                  <a:pt x="115218" y="617265"/>
                  <a:pt x="121915" y="600397"/>
                </a:cubicBezTo>
                <a:lnTo>
                  <a:pt x="219149" y="357188"/>
                </a:lnTo>
                <a:lnTo>
                  <a:pt x="39688" y="357188"/>
                </a:lnTo>
                <a:cubicBezTo>
                  <a:pt x="22944" y="357188"/>
                  <a:pt x="8062" y="346770"/>
                  <a:pt x="2356" y="331019"/>
                </a:cubicBezTo>
                <a:cubicBezTo>
                  <a:pt x="-3349" y="315268"/>
                  <a:pt x="1488" y="297656"/>
                  <a:pt x="14263" y="286990"/>
                </a:cubicBezTo>
                <a:lnTo>
                  <a:pt x="371450" y="-10666"/>
                </a:lnTo>
                <a:cubicBezTo>
                  <a:pt x="385465" y="-22324"/>
                  <a:pt x="405433" y="-22944"/>
                  <a:pt x="420191" y="-122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0" y="4762500"/>
            <a:ext cx="749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appliances analyzed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970000" y="6477000"/>
            <a:ext cx="9144000" cy="1778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90688" y="6858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238125" y="158750"/>
                </a:moveTo>
                <a:cubicBezTo>
                  <a:pt x="238125" y="93038"/>
                  <a:pt x="184775" y="39688"/>
                  <a:pt x="119062" y="39688"/>
                </a:cubicBezTo>
                <a:cubicBezTo>
                  <a:pt x="53350" y="39688"/>
                  <a:pt x="0" y="93038"/>
                  <a:pt x="0" y="158750"/>
                </a:cubicBezTo>
                <a:cubicBezTo>
                  <a:pt x="0" y="224462"/>
                  <a:pt x="53350" y="277813"/>
                  <a:pt x="119062" y="277813"/>
                </a:cubicBezTo>
                <a:cubicBezTo>
                  <a:pt x="184775" y="277813"/>
                  <a:pt x="238125" y="224462"/>
                  <a:pt x="238125" y="158750"/>
                </a:cubicBezTo>
                <a:close/>
                <a:moveTo>
                  <a:pt x="555625" y="476250"/>
                </a:moveTo>
                <a:cubicBezTo>
                  <a:pt x="555625" y="410538"/>
                  <a:pt x="502275" y="357188"/>
                  <a:pt x="436563" y="357188"/>
                </a:cubicBezTo>
                <a:cubicBezTo>
                  <a:pt x="370850" y="357188"/>
                  <a:pt x="317500" y="410538"/>
                  <a:pt x="317500" y="476250"/>
                </a:cubicBezTo>
                <a:cubicBezTo>
                  <a:pt x="317500" y="541962"/>
                  <a:pt x="370850" y="595313"/>
                  <a:pt x="436563" y="595313"/>
                </a:cubicBezTo>
                <a:cubicBezTo>
                  <a:pt x="502275" y="595313"/>
                  <a:pt x="555625" y="541962"/>
                  <a:pt x="555625" y="476250"/>
                </a:cubicBezTo>
                <a:close/>
                <a:moveTo>
                  <a:pt x="543967" y="107404"/>
                </a:moveTo>
                <a:cubicBezTo>
                  <a:pt x="559470" y="91901"/>
                  <a:pt x="559470" y="66725"/>
                  <a:pt x="543967" y="51222"/>
                </a:cubicBezTo>
                <a:cubicBezTo>
                  <a:pt x="528464" y="35719"/>
                  <a:pt x="503287" y="35719"/>
                  <a:pt x="487784" y="51222"/>
                </a:cubicBezTo>
                <a:lnTo>
                  <a:pt x="11534" y="527472"/>
                </a:lnTo>
                <a:cubicBezTo>
                  <a:pt x="-3969" y="542975"/>
                  <a:pt x="-3969" y="568151"/>
                  <a:pt x="11534" y="583654"/>
                </a:cubicBezTo>
                <a:cubicBezTo>
                  <a:pt x="27037" y="599157"/>
                  <a:pt x="52214" y="599157"/>
                  <a:pt x="67717" y="583654"/>
                </a:cubicBezTo>
                <a:lnTo>
                  <a:pt x="543967" y="10740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0" y="6731000"/>
            <a:ext cx="749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savings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970000" y="8445500"/>
            <a:ext cx="9144000" cy="1778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0063" y="8826500"/>
            <a:ext cx="396875" cy="635000"/>
          </a:xfrm>
          <a:custGeom>
            <a:avLst/>
            <a:gdLst/>
            <a:ahLst/>
            <a:cxnLst/>
            <a:rect l="l" t="t" r="r" b="b"/>
            <a:pathLst>
              <a:path w="396875" h="635000">
                <a:moveTo>
                  <a:pt x="0" y="79375"/>
                </a:moveTo>
                <a:cubicBezTo>
                  <a:pt x="0" y="57423"/>
                  <a:pt x="17735" y="39688"/>
                  <a:pt x="39688" y="39688"/>
                </a:cubicBezTo>
                <a:lnTo>
                  <a:pt x="367109" y="39688"/>
                </a:lnTo>
                <a:cubicBezTo>
                  <a:pt x="383604" y="39688"/>
                  <a:pt x="396875" y="52958"/>
                  <a:pt x="396875" y="69453"/>
                </a:cubicBezTo>
                <a:cubicBezTo>
                  <a:pt x="396875" y="85948"/>
                  <a:pt x="383604" y="99219"/>
                  <a:pt x="367109" y="99219"/>
                </a:cubicBezTo>
                <a:lnTo>
                  <a:pt x="271983" y="99219"/>
                </a:lnTo>
                <a:cubicBezTo>
                  <a:pt x="293936" y="123775"/>
                  <a:pt x="309314" y="154533"/>
                  <a:pt x="315020" y="188516"/>
                </a:cubicBezTo>
                <a:lnTo>
                  <a:pt x="367109" y="188516"/>
                </a:lnTo>
                <a:cubicBezTo>
                  <a:pt x="383604" y="188516"/>
                  <a:pt x="396875" y="201786"/>
                  <a:pt x="396875" y="218281"/>
                </a:cubicBezTo>
                <a:cubicBezTo>
                  <a:pt x="396875" y="234776"/>
                  <a:pt x="383604" y="248047"/>
                  <a:pt x="367109" y="248047"/>
                </a:cubicBezTo>
                <a:lnTo>
                  <a:pt x="315020" y="248047"/>
                </a:lnTo>
                <a:cubicBezTo>
                  <a:pt x="302121" y="325189"/>
                  <a:pt x="239613" y="385589"/>
                  <a:pt x="161479" y="395511"/>
                </a:cubicBezTo>
                <a:lnTo>
                  <a:pt x="340568" y="523379"/>
                </a:lnTo>
                <a:cubicBezTo>
                  <a:pt x="358428" y="536153"/>
                  <a:pt x="362521" y="560958"/>
                  <a:pt x="349746" y="578693"/>
                </a:cubicBezTo>
                <a:cubicBezTo>
                  <a:pt x="336972" y="596429"/>
                  <a:pt x="312167" y="600646"/>
                  <a:pt x="294432" y="587871"/>
                </a:cubicBezTo>
                <a:lnTo>
                  <a:pt x="16619" y="389434"/>
                </a:lnTo>
                <a:cubicBezTo>
                  <a:pt x="2604" y="379512"/>
                  <a:pt x="-3349" y="361528"/>
                  <a:pt x="1860" y="345033"/>
                </a:cubicBezTo>
                <a:cubicBezTo>
                  <a:pt x="7069" y="328538"/>
                  <a:pt x="22448" y="317500"/>
                  <a:pt x="39688" y="317500"/>
                </a:cubicBezTo>
                <a:lnTo>
                  <a:pt x="138906" y="317500"/>
                </a:lnTo>
                <a:cubicBezTo>
                  <a:pt x="183307" y="317500"/>
                  <a:pt x="220886" y="288354"/>
                  <a:pt x="233536" y="248047"/>
                </a:cubicBezTo>
                <a:lnTo>
                  <a:pt x="29766" y="248047"/>
                </a:lnTo>
                <a:cubicBezTo>
                  <a:pt x="13271" y="248047"/>
                  <a:pt x="0" y="234776"/>
                  <a:pt x="0" y="218281"/>
                </a:cubicBezTo>
                <a:cubicBezTo>
                  <a:pt x="0" y="201786"/>
                  <a:pt x="13271" y="188516"/>
                  <a:pt x="29766" y="188516"/>
                </a:cubicBezTo>
                <a:lnTo>
                  <a:pt x="233536" y="188516"/>
                </a:lnTo>
                <a:cubicBezTo>
                  <a:pt x="220886" y="148208"/>
                  <a:pt x="183307" y="119062"/>
                  <a:pt x="138906" y="119062"/>
                </a:cubicBezTo>
                <a:lnTo>
                  <a:pt x="39688" y="119062"/>
                </a:lnTo>
                <a:cubicBezTo>
                  <a:pt x="17735" y="119062"/>
                  <a:pt x="0" y="101327"/>
                  <a:pt x="0" y="793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0" y="8699500"/>
            <a:ext cx="749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79.8L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annual savings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52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Problem &amp; Question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540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vs Off-Peak Tariffs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3429000"/>
            <a:ext cx="10160000" cy="20320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611313" y="3810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221010" y="-12526"/>
                </a:moveTo>
                <a:cubicBezTo>
                  <a:pt x="230188" y="-16371"/>
                  <a:pt x="240605" y="-15255"/>
                  <a:pt x="248915" y="-9798"/>
                </a:cubicBezTo>
                <a:lnTo>
                  <a:pt x="357808" y="62384"/>
                </a:lnTo>
                <a:lnTo>
                  <a:pt x="466700" y="-9798"/>
                </a:lnTo>
                <a:cubicBezTo>
                  <a:pt x="475010" y="-15255"/>
                  <a:pt x="485428" y="-16247"/>
                  <a:pt x="494605" y="-12526"/>
                </a:cubicBezTo>
                <a:cubicBezTo>
                  <a:pt x="503783" y="-8806"/>
                  <a:pt x="510232" y="-620"/>
                  <a:pt x="512217" y="9054"/>
                </a:cubicBezTo>
                <a:lnTo>
                  <a:pt x="538138" y="137046"/>
                </a:lnTo>
                <a:lnTo>
                  <a:pt x="666130" y="162967"/>
                </a:lnTo>
                <a:cubicBezTo>
                  <a:pt x="675804" y="164951"/>
                  <a:pt x="683989" y="171648"/>
                  <a:pt x="687710" y="180702"/>
                </a:cubicBezTo>
                <a:cubicBezTo>
                  <a:pt x="691431" y="189756"/>
                  <a:pt x="690438" y="200298"/>
                  <a:pt x="684981" y="208607"/>
                </a:cubicBezTo>
                <a:lnTo>
                  <a:pt x="612800" y="317500"/>
                </a:lnTo>
                <a:lnTo>
                  <a:pt x="684981" y="426393"/>
                </a:lnTo>
                <a:cubicBezTo>
                  <a:pt x="690438" y="434702"/>
                  <a:pt x="691431" y="445120"/>
                  <a:pt x="687710" y="454298"/>
                </a:cubicBezTo>
                <a:cubicBezTo>
                  <a:pt x="683989" y="463476"/>
                  <a:pt x="675804" y="470173"/>
                  <a:pt x="666130" y="472033"/>
                </a:cubicBezTo>
                <a:lnTo>
                  <a:pt x="538014" y="497830"/>
                </a:lnTo>
                <a:lnTo>
                  <a:pt x="512217" y="625946"/>
                </a:lnTo>
                <a:cubicBezTo>
                  <a:pt x="510232" y="635620"/>
                  <a:pt x="503535" y="643806"/>
                  <a:pt x="494481" y="647526"/>
                </a:cubicBezTo>
                <a:cubicBezTo>
                  <a:pt x="485428" y="651247"/>
                  <a:pt x="474886" y="650255"/>
                  <a:pt x="466576" y="644798"/>
                </a:cubicBezTo>
                <a:lnTo>
                  <a:pt x="357684" y="572616"/>
                </a:lnTo>
                <a:lnTo>
                  <a:pt x="248791" y="644798"/>
                </a:lnTo>
                <a:cubicBezTo>
                  <a:pt x="240481" y="650255"/>
                  <a:pt x="230063" y="651247"/>
                  <a:pt x="220886" y="647526"/>
                </a:cubicBezTo>
                <a:cubicBezTo>
                  <a:pt x="211708" y="643806"/>
                  <a:pt x="205011" y="635620"/>
                  <a:pt x="203150" y="625946"/>
                </a:cubicBezTo>
                <a:lnTo>
                  <a:pt x="177354" y="497830"/>
                </a:lnTo>
                <a:lnTo>
                  <a:pt x="49237" y="471909"/>
                </a:lnTo>
                <a:cubicBezTo>
                  <a:pt x="39563" y="469925"/>
                  <a:pt x="31378" y="463228"/>
                  <a:pt x="27657" y="454174"/>
                </a:cubicBezTo>
                <a:cubicBezTo>
                  <a:pt x="23937" y="445120"/>
                  <a:pt x="24929" y="434578"/>
                  <a:pt x="30386" y="426269"/>
                </a:cubicBezTo>
                <a:lnTo>
                  <a:pt x="102567" y="317500"/>
                </a:lnTo>
                <a:lnTo>
                  <a:pt x="30386" y="208607"/>
                </a:lnTo>
                <a:cubicBezTo>
                  <a:pt x="24929" y="200298"/>
                  <a:pt x="23937" y="189880"/>
                  <a:pt x="27657" y="180702"/>
                </a:cubicBezTo>
                <a:cubicBezTo>
                  <a:pt x="31378" y="171524"/>
                  <a:pt x="39563" y="164827"/>
                  <a:pt x="49237" y="162967"/>
                </a:cubicBezTo>
                <a:lnTo>
                  <a:pt x="177354" y="137170"/>
                </a:lnTo>
                <a:lnTo>
                  <a:pt x="203274" y="9054"/>
                </a:lnTo>
                <a:cubicBezTo>
                  <a:pt x="205259" y="-620"/>
                  <a:pt x="211956" y="-8806"/>
                  <a:pt x="221010" y="-12526"/>
                </a:cubicBezTo>
                <a:close/>
                <a:moveTo>
                  <a:pt x="257473" y="317500"/>
                </a:moveTo>
                <a:cubicBezTo>
                  <a:pt x="257473" y="281875"/>
                  <a:pt x="276478" y="248957"/>
                  <a:pt x="307330" y="231144"/>
                </a:cubicBezTo>
                <a:cubicBezTo>
                  <a:pt x="338182" y="213332"/>
                  <a:pt x="376193" y="213332"/>
                  <a:pt x="407045" y="231144"/>
                </a:cubicBezTo>
                <a:cubicBezTo>
                  <a:pt x="437897" y="248957"/>
                  <a:pt x="456902" y="281875"/>
                  <a:pt x="456902" y="317500"/>
                </a:cubicBezTo>
                <a:cubicBezTo>
                  <a:pt x="456902" y="372534"/>
                  <a:pt x="412222" y="417215"/>
                  <a:pt x="357188" y="417215"/>
                </a:cubicBezTo>
                <a:cubicBezTo>
                  <a:pt x="302153" y="417215"/>
                  <a:pt x="257473" y="372534"/>
                  <a:pt x="257473" y="317500"/>
                </a:cubicBezTo>
                <a:close/>
                <a:moveTo>
                  <a:pt x="516434" y="317500"/>
                </a:moveTo>
                <a:cubicBezTo>
                  <a:pt x="516434" y="229610"/>
                  <a:pt x="445078" y="158254"/>
                  <a:pt x="357188" y="158254"/>
                </a:cubicBezTo>
                <a:cubicBezTo>
                  <a:pt x="269297" y="158254"/>
                  <a:pt x="197941" y="229610"/>
                  <a:pt x="197941" y="317500"/>
                </a:cubicBezTo>
                <a:cubicBezTo>
                  <a:pt x="197941" y="374393"/>
                  <a:pt x="228294" y="426965"/>
                  <a:pt x="277564" y="455411"/>
                </a:cubicBezTo>
                <a:cubicBezTo>
                  <a:pt x="326835" y="483858"/>
                  <a:pt x="387540" y="483858"/>
                  <a:pt x="436811" y="455411"/>
                </a:cubicBezTo>
                <a:cubicBezTo>
                  <a:pt x="486081" y="426965"/>
                  <a:pt x="516434" y="374393"/>
                  <a:pt x="516434" y="317500"/>
                </a:cubicBezTo>
                <a:close/>
              </a:path>
            </a:pathLst>
          </a:cu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0" y="3619500"/>
            <a:ext cx="838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Hours (18:00 – 22:00)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aggregate demand → elevated rates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Tariff: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1.2c̄ = Rs. 10.04 / kWh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70000" y="5715000"/>
            <a:ext cx="10160000" cy="20320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0" name="Shape 8"/>
          <p:cNvSpPr/>
          <p:nvPr/>
        </p:nvSpPr>
        <p:spPr>
          <a:xfrm>
            <a:off x="1651000" y="6096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142131" y="0"/>
                  <a:pt x="0" y="142131"/>
                  <a:pt x="0" y="317500"/>
                </a:cubicBezTo>
                <a:cubicBezTo>
                  <a:pt x="0" y="492869"/>
                  <a:pt x="142131" y="635000"/>
                  <a:pt x="317500" y="635000"/>
                </a:cubicBezTo>
                <a:cubicBezTo>
                  <a:pt x="402828" y="635000"/>
                  <a:pt x="480343" y="601266"/>
                  <a:pt x="537394" y="546447"/>
                </a:cubicBezTo>
                <a:cubicBezTo>
                  <a:pt x="546447" y="537766"/>
                  <a:pt x="549052" y="524247"/>
                  <a:pt x="543967" y="512837"/>
                </a:cubicBezTo>
                <a:cubicBezTo>
                  <a:pt x="538882" y="501427"/>
                  <a:pt x="526976" y="494357"/>
                  <a:pt x="514449" y="495350"/>
                </a:cubicBezTo>
                <a:cubicBezTo>
                  <a:pt x="508372" y="495846"/>
                  <a:pt x="502295" y="496094"/>
                  <a:pt x="496094" y="496094"/>
                </a:cubicBezTo>
                <a:cubicBezTo>
                  <a:pt x="370086" y="496094"/>
                  <a:pt x="267891" y="393898"/>
                  <a:pt x="267891" y="267891"/>
                </a:cubicBezTo>
                <a:cubicBezTo>
                  <a:pt x="267891" y="178470"/>
                  <a:pt x="319360" y="100955"/>
                  <a:pt x="394519" y="63500"/>
                </a:cubicBezTo>
                <a:cubicBezTo>
                  <a:pt x="405805" y="57919"/>
                  <a:pt x="412254" y="45765"/>
                  <a:pt x="410766" y="33238"/>
                </a:cubicBezTo>
                <a:cubicBezTo>
                  <a:pt x="409277" y="20712"/>
                  <a:pt x="400100" y="10542"/>
                  <a:pt x="387821" y="7813"/>
                </a:cubicBezTo>
                <a:cubicBezTo>
                  <a:pt x="365125" y="2729"/>
                  <a:pt x="341561" y="0"/>
                  <a:pt x="3175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667000" y="5905500"/>
            <a:ext cx="838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Hours (23:00 – 06:00)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lightly loaded → lower tariffs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Tariff: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0.8c̄ = Rs. 6.70 / kWh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446000" y="2540000"/>
            <a:ext cx="1066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Research Question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446000" y="3429000"/>
            <a:ext cx="10668000" cy="4318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0" y="3683000"/>
            <a:ext cx="965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how much can the </a:t>
            </a: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electricity bill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household be reduced if appliance usage is </a:t>
            </a: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optimally reallocated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peak-hour to off-peak-hour tariff windows using </a:t>
            </a: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programming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what is the </a:t>
            </a: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per-unit savings efficiency</a:t>
            </a:r>
            <a:r>
              <a:rPr lang="en-US" sz="2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this reallocation?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70000" y="8382000"/>
            <a:ext cx="21844000" cy="152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1857375" y="88265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363265" y="476250"/>
                </a:moveTo>
                <a:cubicBezTo>
                  <a:pt x="372318" y="448593"/>
                  <a:pt x="390426" y="423540"/>
                  <a:pt x="410890" y="401960"/>
                </a:cubicBezTo>
                <a:cubicBezTo>
                  <a:pt x="451445" y="359296"/>
                  <a:pt x="476250" y="301625"/>
                  <a:pt x="476250" y="238125"/>
                </a:cubicBezTo>
                <a:cubicBezTo>
                  <a:pt x="476250" y="106660"/>
                  <a:pt x="369590" y="0"/>
                  <a:pt x="238125" y="0"/>
                </a:cubicBezTo>
                <a:cubicBezTo>
                  <a:pt x="106660" y="0"/>
                  <a:pt x="0" y="106660"/>
                  <a:pt x="0" y="238125"/>
                </a:cubicBezTo>
                <a:cubicBezTo>
                  <a:pt x="0" y="301625"/>
                  <a:pt x="24805" y="359296"/>
                  <a:pt x="65360" y="401960"/>
                </a:cubicBezTo>
                <a:cubicBezTo>
                  <a:pt x="85824" y="423540"/>
                  <a:pt x="104056" y="448593"/>
                  <a:pt x="112985" y="476250"/>
                </a:cubicBezTo>
                <a:lnTo>
                  <a:pt x="363141" y="476250"/>
                </a:lnTo>
                <a:close/>
                <a:moveTo>
                  <a:pt x="357188" y="535781"/>
                </a:moveTo>
                <a:lnTo>
                  <a:pt x="119062" y="535781"/>
                </a:lnTo>
                <a:lnTo>
                  <a:pt x="119062" y="555625"/>
                </a:lnTo>
                <a:cubicBezTo>
                  <a:pt x="119062" y="610443"/>
                  <a:pt x="163463" y="654844"/>
                  <a:pt x="218281" y="654844"/>
                </a:cubicBezTo>
                <a:lnTo>
                  <a:pt x="257969" y="654844"/>
                </a:lnTo>
                <a:cubicBezTo>
                  <a:pt x="312787" y="654844"/>
                  <a:pt x="357188" y="610443"/>
                  <a:pt x="357188" y="555625"/>
                </a:cubicBezTo>
                <a:lnTo>
                  <a:pt x="357188" y="535781"/>
                </a:lnTo>
                <a:close/>
                <a:moveTo>
                  <a:pt x="228203" y="138906"/>
                </a:moveTo>
                <a:cubicBezTo>
                  <a:pt x="178842" y="138906"/>
                  <a:pt x="138906" y="178842"/>
                  <a:pt x="138906" y="228203"/>
                </a:cubicBezTo>
                <a:cubicBezTo>
                  <a:pt x="138906" y="244698"/>
                  <a:pt x="125636" y="257969"/>
                  <a:pt x="109141" y="257969"/>
                </a:cubicBezTo>
                <a:cubicBezTo>
                  <a:pt x="92646" y="257969"/>
                  <a:pt x="79375" y="244698"/>
                  <a:pt x="79375" y="228203"/>
                </a:cubicBezTo>
                <a:cubicBezTo>
                  <a:pt x="79375" y="145976"/>
                  <a:pt x="145976" y="79375"/>
                  <a:pt x="228203" y="79375"/>
                </a:cubicBezTo>
                <a:cubicBezTo>
                  <a:pt x="244698" y="79375"/>
                  <a:pt x="257969" y="92646"/>
                  <a:pt x="257969" y="109141"/>
                </a:cubicBezTo>
                <a:cubicBezTo>
                  <a:pt x="257969" y="125636"/>
                  <a:pt x="244698" y="138906"/>
                  <a:pt x="228203" y="138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794000" y="8636000"/>
            <a:ext cx="198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Time-flexible appliances (fan, TV, motor pump) can be rescheduled to off-peak windows without sacrificing comfort or service quality — creating a structured resource allocation problem solvable by LP.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90000" y="635000"/>
            <a:ext cx="2540000" cy="254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&amp; Variables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15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Dataset | 45,345 household-month records across Indian cities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2921000"/>
          <a:ext cx="13970000" cy="5334002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1088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Appliance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Annual Demand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81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★ Fan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6,34,408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81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★ Refrigerator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9,84,234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41%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81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★ Air Conditioner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AirConditioner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68,197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81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★ Television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5,66,932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81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★ Monitor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1,29,916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81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★ Motor Pump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MotorPump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kWh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5875000" y="2921000"/>
            <a:ext cx="7239000" cy="6350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8" name="Text 5"/>
          <p:cNvSpPr/>
          <p:nvPr/>
        </p:nvSpPr>
        <p:spPr>
          <a:xfrm>
            <a:off x="16256000" y="3175000"/>
            <a:ext cx="647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Tariff Variables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256000" y="3810000"/>
            <a:ext cx="6477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Tariff (c̄)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3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8.37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kWh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Tariff c</a:t>
            </a:r>
            <a:r>
              <a:rPr lang="en-US" sz="2200" b="1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 × c̄ = </a:t>
            </a:r>
            <a:r>
              <a:rPr lang="en-US" sz="22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10.04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kWh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 Tariff c</a:t>
            </a:r>
            <a:r>
              <a:rPr lang="en-US" sz="2200" b="1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 × c̄ = </a:t>
            </a: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6.70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kWh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Tariff Ratio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r>
              <a:rPr lang="en-US" sz="22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c</a:t>
            </a:r>
            <a:r>
              <a:rPr lang="en-US" sz="22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1.50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70000" y="9398000"/>
            <a:ext cx="2184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variables: TariffRate (Rs./kWh), ElectricityBill (Rs.), Month (1–12), City, Company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606000" y="11430000"/>
            <a:ext cx="1524000" cy="1524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215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Programming Approach — Solved in R using lpSolve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3175000"/>
            <a:ext cx="3556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3175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Collect Data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dataset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45,345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53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842000" y="3175000"/>
            <a:ext cx="3556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842000" y="3175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Define Variables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xi = off-peak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for appliance 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25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0414000" y="3175000"/>
            <a:ext cx="3556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0" y="3175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Set Objective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total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electricity cost Z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097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4986000" y="3175000"/>
            <a:ext cx="3556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0" y="3175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Add Constraints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 demand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Non-negative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669000" y="3683000"/>
            <a:ext cx="762000" cy="0"/>
          </a:xfrm>
          <a:prstGeom prst="straightConnector1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9558000" y="3175000"/>
            <a:ext cx="3556000" cy="1270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9558000" y="3175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Solve LP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+ lpSolve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schedule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5080000"/>
            <a:ext cx="21844000" cy="4826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000" y="5334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Linear Programming?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5969000"/>
            <a:ext cx="20828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Programming is a mathematical method for finding the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outcome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(minimum cost or maximum profit) in a model whose requirements are represented by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relationships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our problem: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to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total electricity cost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variables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how much energy to allocate to off-peak for each appliance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 total demand is met and allocations are non-negative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Because the problem is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convex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any local minimum is also a global minimum — guaranteeing the optimal solution.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90000" y="635000"/>
            <a:ext cx="2540000" cy="2540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Formulation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10160000" cy="3810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730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Variables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365500"/>
            <a:ext cx="939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xᵢ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off-peak energy for appliance </a:t>
            </a:r>
            <a:r>
              <a:rPr lang="en-US" sz="20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0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(kWh) — LP decision variable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Rᵢ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total annual demand of appliance </a:t>
            </a:r>
            <a:r>
              <a:rPr lang="en-US" sz="20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0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(kWh) — known input from dataset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c⁽ᵖ⁾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1.2c̄ =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10.04</a:t>
            </a:r>
            <a:r>
              <a:rPr lang="en-US" sz="20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kWh  — peak tariff (+20%)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c⁽ᵒ⁾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0.8c̄ =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6.70</a:t>
            </a:r>
            <a:r>
              <a:rPr lang="en-US" sz="20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kWh  — off-peak tariff (−20%)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 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c̄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8.3696 Rs./kWh</a:t>
            </a:r>
            <a:r>
              <a:rPr lang="en-US" sz="200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sample mean tariff (baseline)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938000" y="2540000"/>
            <a:ext cx="11176000" cy="4104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12319000" y="2730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Linear Program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19000" y="3365500"/>
            <a:ext cx="1041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cost:  </a:t>
            </a:r>
            <a:r>
              <a:rPr lang="en-US" sz="2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r>
              <a:rPr lang="en-US" sz="15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</a:t>
            </a:r>
            <a:r>
              <a:rPr lang="en-US" sz="16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D  =  1.2c̅ · D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2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cost:    </a:t>
            </a:r>
            <a:r>
              <a:rPr lang="en-US" sz="2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r>
              <a:rPr lang="en-US" sz="15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</a:t>
            </a:r>
            <a:r>
              <a:rPr lang="en-US" sz="2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</a:t>
            </a:r>
            <a:r>
              <a:rPr lang="en-US" sz="16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D  =  0.8c̅ · D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23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 </a:t>
            </a:r>
            <a:r>
              <a:rPr lang="en-US" sz="2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Z(x) = Σ</a:t>
            </a:r>
            <a:r>
              <a:rPr lang="en-US" sz="14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i∈I</a:t>
            </a:r>
            <a:r>
              <a:rPr lang="en-US" sz="2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</a:t>
            </a:r>
            <a:r>
              <a:rPr lang="en-US" sz="16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x</a:t>
            </a:r>
            <a:r>
              <a:rPr lang="en-US" sz="16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1600" dirty="0"/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2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 to: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(C1)  x</a:t>
            </a:r>
            <a:r>
              <a:rPr lang="en-US" sz="15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≥ R</a:t>
            </a:r>
            <a:r>
              <a:rPr lang="en-US" sz="15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0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∀ i ∈ I</a:t>
            </a: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→ demand satisfied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(C2)  x</a:t>
            </a:r>
            <a:r>
              <a:rPr lang="en-US" sz="15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0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≥ 0  ∀ i ∈ I</a:t>
            </a: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→ non-negativity</a:t>
            </a:r>
            <a:endParaRPr lang="en-US" sz="1600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 D = Σ</a:t>
            </a:r>
            <a:r>
              <a:rPr lang="en-US" sz="14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</a:t>
            </a:r>
            <a:r>
              <a:rPr lang="en-US" sz="14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900" i="1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23,83,687 kWh  (total annual demand)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6858000"/>
            <a:ext cx="21844000" cy="4699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1778000" y="7493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422176" y="263798"/>
                </a:moveTo>
                <a:lnTo>
                  <a:pt x="322957" y="422548"/>
                </a:lnTo>
                <a:cubicBezTo>
                  <a:pt x="317748" y="430857"/>
                  <a:pt x="308818" y="436066"/>
                  <a:pt x="299021" y="436563"/>
                </a:cubicBezTo>
                <a:cubicBezTo>
                  <a:pt x="289223" y="437059"/>
                  <a:pt x="279797" y="432594"/>
                  <a:pt x="273968" y="424656"/>
                </a:cubicBezTo>
                <a:lnTo>
                  <a:pt x="214437" y="345281"/>
                </a:lnTo>
                <a:cubicBezTo>
                  <a:pt x="204515" y="332135"/>
                  <a:pt x="207243" y="313531"/>
                  <a:pt x="220390" y="303609"/>
                </a:cubicBezTo>
                <a:cubicBezTo>
                  <a:pt x="233536" y="293688"/>
                  <a:pt x="252140" y="296416"/>
                  <a:pt x="262062" y="309563"/>
                </a:cubicBezTo>
                <a:lnTo>
                  <a:pt x="295548" y="354211"/>
                </a:lnTo>
                <a:lnTo>
                  <a:pt x="371698" y="232296"/>
                </a:lnTo>
                <a:cubicBezTo>
                  <a:pt x="380380" y="218405"/>
                  <a:pt x="398735" y="214064"/>
                  <a:pt x="412750" y="222870"/>
                </a:cubicBezTo>
                <a:cubicBezTo>
                  <a:pt x="426765" y="231676"/>
                  <a:pt x="430981" y="249907"/>
                  <a:pt x="422176" y="2639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94000" y="711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KKT Analytical 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67000" y="7747000"/>
            <a:ext cx="20193000" cy="241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KKT Proof — Step-by-Step Derivation:</a:t>
            </a:r>
            <a:endParaRPr lang="en-US" sz="24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Lagrangian:  L = Σ c</a:t>
            </a:r>
            <a:r>
              <a:rPr lang="en-US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Σ λ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(x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−R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− Σ μ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Stationarity:  ∂L/∂x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</a:t>
            </a:r>
            <a:r>
              <a:rPr lang="en-US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λ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μ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  ⇒  λ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μ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c</a:t>
            </a:r>
            <a:r>
              <a:rPr lang="en-US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&gt; 0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slackness:  λ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(x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−R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= 0  and  μ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·x</a:t>
            </a:r>
            <a:r>
              <a:rPr lang="en-US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c</a:t>
            </a:r>
            <a:r>
              <a:rPr lang="en-US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&gt; 0, the binding constraint forces  </a:t>
            </a: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r>
              <a:rPr lang="en-US" sz="20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 = R</a:t>
            </a:r>
            <a:r>
              <a:rPr lang="en-US" sz="2000" b="1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∀i  (all demand off-peak)</a:t>
            </a:r>
            <a:endParaRPr lang="en-US" sz="2400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= (c</a:t>
            </a:r>
            <a:r>
              <a:rPr lang="en-US" sz="2000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c</a:t>
            </a:r>
            <a:r>
              <a:rPr lang="en-US" sz="2000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· D = 0.4c̅ · D = 0.4 × 8.37 × 23,83,687 = </a:t>
            </a: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79.8 Lakhs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25000" y="254000"/>
            <a:ext cx="1905000" cy="190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— Before vs After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270000" y="2540000"/>
          <a:ext cx="13970000" cy="6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5875000" y="2540000"/>
            <a:ext cx="7239000" cy="6350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7" name="Text 4"/>
          <p:cNvSpPr/>
          <p:nvPr/>
        </p:nvSpPr>
        <p:spPr>
          <a:xfrm>
            <a:off x="16256000" y="2794000"/>
            <a:ext cx="647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Breakdown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256000" y="3556000"/>
          <a:ext cx="6858000" cy="5080000"/>
        </p:xfrm>
        <a:graphic>
          <a:graphicData uri="http://schemas.openxmlformats.org/drawingml/2006/table">
            <a:tbl>
              <a:tblPr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Appliance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Before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After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Savings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D96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63.7L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42.5L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21.2L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Refrigerator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98.9L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65.9L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33.0L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6.8L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4.6L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2.2L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Television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56.9L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38.0L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18.9L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13.0L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8.7L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4.3L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MotorPump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CA3A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239.4L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159.6L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79.8L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25000" y="254000"/>
            <a:ext cx="1905000" cy="190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Savings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6858000" cy="2540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794000"/>
            <a:ext cx="609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 Savings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1/3 of baseline bill eliminated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9000" y="2540000"/>
            <a:ext cx="6858000" cy="2540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0" y="2794000"/>
            <a:ext cx="609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79.8L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0" y="3937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Annual Savings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Rs. 2.39 Cr to Rs. 1.60 Cr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748000" y="2540000"/>
            <a:ext cx="7366000" cy="2540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12" name="Text 10"/>
          <p:cNvSpPr/>
          <p:nvPr/>
        </p:nvSpPr>
        <p:spPr>
          <a:xfrm>
            <a:off x="16129000" y="2794000"/>
            <a:ext cx="660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3.35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129000" y="3937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per kWh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kWh shifted saves Rs. 3.35</a:t>
            </a:r>
            <a:endParaRPr lang="en-US" sz="16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1270000" y="5588000"/>
          <a:ext cx="635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8128000" y="5588000"/>
            <a:ext cx="14986000" cy="5080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16" name="Text 13"/>
          <p:cNvSpPr/>
          <p:nvPr/>
        </p:nvSpPr>
        <p:spPr>
          <a:xfrm>
            <a:off x="8636000" y="5969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</a:t>
            </a:r>
            <a:endParaRPr lang="en-US" dirty="0"/>
          </a:p>
          <a:p>
            <a:pPr>
              <a:lnSpc>
                <a:spcPct val="120000"/>
              </a:lnSpc>
              <a:spcBef>
                <a:spcPts val="250"/>
              </a:spcBef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 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fraction: 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</a:t>
            </a:r>
            <a:r>
              <a:rPr lang="en-US" sz="14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−c</a:t>
            </a:r>
            <a:r>
              <a:rPr lang="en-US" sz="14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)/c</a:t>
            </a:r>
            <a:r>
              <a:rPr lang="en-US" sz="14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=(1.2− 0.8)/1.2 = 0.4/1.2 = </a:t>
            </a: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1/3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  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independent of appliance mix — tariff ratio c</a:t>
            </a:r>
            <a:r>
              <a:rPr lang="en-US" sz="14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/c</a:t>
            </a:r>
            <a:r>
              <a:rPr lang="en-US" sz="1400" baseline="3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=1.5 alone determines savings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  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Efficiency: 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 = S/D = 79,80,249 / 23,83,687 = </a:t>
            </a: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3.35/kWh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  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Refrigerator alone: Rs. 33.0L savings (41% of total) — highest demand share</a:t>
            </a:r>
            <a:endParaRPr lang="en-US" dirty="0"/>
          </a:p>
          <a:p>
            <a:pPr>
              <a:lnSpc>
                <a:spcPct val="120000"/>
              </a:lnSpc>
              <a:spcBef>
                <a:spcPts val="350"/>
              </a:spcBef>
            </a:pPr>
            <a:r>
              <a:rPr lang="en-US" sz="20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Proof (3 Steps):</a:t>
            </a:r>
            <a:endParaRPr lang="en-US" dirty="0"/>
          </a:p>
          <a:p>
            <a:pPr>
              <a:lnSpc>
                <a:spcPct val="120000"/>
              </a:lnSpc>
              <a:spcBef>
                <a:spcPts val="15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① Baseline:  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</a:t>
            </a:r>
            <a:r>
              <a:rPr lang="en-US" sz="1400" baseline="-40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1.2c̅ · D = Rs. 2,39,40,770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② Optimal:   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Z* = 0.8c̅ · D = Rs. 1,59,60,521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③ Savings:  S = 0.4c̅ · D = Rs. 79,80,249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9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0955000" y="635000"/>
            <a:ext cx="3175000" cy="317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000" y="10160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80000" y="7112000"/>
            <a:ext cx="14224000" cy="381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1524000"/>
            <a:ext cx="1778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Stochastic Extension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0" y="2921000"/>
            <a:ext cx="177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Under Random Tariffs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0" y="4064000"/>
            <a:ext cx="6350000" cy="2794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048000" y="444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048000" y="5080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Tariff 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~ N(μ=8.37, σ=0.58)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= 1.2C, Off-peak = 0.8C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71000" y="4064000"/>
            <a:ext cx="6350000" cy="2794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42500" y="4445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63500" y="0"/>
                </a:moveTo>
                <a:cubicBezTo>
                  <a:pt x="28476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28476" y="508000"/>
                  <a:pt x="63500" y="508000"/>
                </a:cubicBezTo>
                <a:lnTo>
                  <a:pt x="317500" y="508000"/>
                </a:lnTo>
                <a:cubicBezTo>
                  <a:pt x="352524" y="508000"/>
                  <a:pt x="381000" y="479524"/>
                  <a:pt x="381000" y="444500"/>
                </a:cubicBezTo>
                <a:lnTo>
                  <a:pt x="381000" y="63500"/>
                </a:lnTo>
                <a:cubicBezTo>
                  <a:pt x="381000" y="28476"/>
                  <a:pt x="352524" y="0"/>
                  <a:pt x="317500" y="0"/>
                </a:cubicBezTo>
                <a:lnTo>
                  <a:pt x="63500" y="0"/>
                </a:lnTo>
                <a:close/>
                <a:moveTo>
                  <a:pt x="95250" y="63500"/>
                </a:moveTo>
                <a:lnTo>
                  <a:pt x="285750" y="63500"/>
                </a:lnTo>
                <a:cubicBezTo>
                  <a:pt x="303312" y="63500"/>
                  <a:pt x="317500" y="77688"/>
                  <a:pt x="317500" y="9525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95250" y="158750"/>
                </a:lnTo>
                <a:cubicBezTo>
                  <a:pt x="77688" y="158750"/>
                  <a:pt x="63500" y="144562"/>
                  <a:pt x="63500" y="127000"/>
                </a:cubicBezTo>
                <a:lnTo>
                  <a:pt x="63500" y="95250"/>
                </a:lnTo>
                <a:cubicBezTo>
                  <a:pt x="63500" y="77688"/>
                  <a:pt x="77688" y="63500"/>
                  <a:pt x="95250" y="63500"/>
                </a:cubicBezTo>
                <a:close/>
                <a:moveTo>
                  <a:pt x="111125" y="230188"/>
                </a:moveTo>
                <a:cubicBezTo>
                  <a:pt x="111125" y="243330"/>
                  <a:pt x="100455" y="254000"/>
                  <a:pt x="87313" y="254000"/>
                </a:cubicBezTo>
                <a:cubicBezTo>
                  <a:pt x="74170" y="254000"/>
                  <a:pt x="63500" y="243330"/>
                  <a:pt x="63500" y="230188"/>
                </a:cubicBezTo>
                <a:cubicBezTo>
                  <a:pt x="63500" y="217045"/>
                  <a:pt x="74170" y="206375"/>
                  <a:pt x="87313" y="206375"/>
                </a:cubicBezTo>
                <a:cubicBezTo>
                  <a:pt x="100455" y="206375"/>
                  <a:pt x="111125" y="217045"/>
                  <a:pt x="111125" y="230188"/>
                </a:cubicBezTo>
                <a:close/>
                <a:moveTo>
                  <a:pt x="190500" y="254000"/>
                </a:moveTo>
                <a:cubicBezTo>
                  <a:pt x="177358" y="254000"/>
                  <a:pt x="166688" y="243330"/>
                  <a:pt x="166688" y="230188"/>
                </a:cubicBezTo>
                <a:cubicBezTo>
                  <a:pt x="166688" y="217045"/>
                  <a:pt x="177358" y="206375"/>
                  <a:pt x="190500" y="206375"/>
                </a:cubicBezTo>
                <a:cubicBezTo>
                  <a:pt x="203642" y="206375"/>
                  <a:pt x="214313" y="217045"/>
                  <a:pt x="214313" y="230188"/>
                </a:cubicBezTo>
                <a:cubicBezTo>
                  <a:pt x="214313" y="243330"/>
                  <a:pt x="203642" y="254000"/>
                  <a:pt x="190500" y="254000"/>
                </a:cubicBezTo>
                <a:close/>
                <a:moveTo>
                  <a:pt x="317500" y="230188"/>
                </a:moveTo>
                <a:cubicBezTo>
                  <a:pt x="317500" y="243330"/>
                  <a:pt x="306830" y="254000"/>
                  <a:pt x="293688" y="254000"/>
                </a:cubicBezTo>
                <a:cubicBezTo>
                  <a:pt x="280545" y="254000"/>
                  <a:pt x="269875" y="243330"/>
                  <a:pt x="269875" y="230188"/>
                </a:cubicBezTo>
                <a:cubicBezTo>
                  <a:pt x="269875" y="217045"/>
                  <a:pt x="280545" y="206375"/>
                  <a:pt x="293688" y="206375"/>
                </a:cubicBezTo>
                <a:cubicBezTo>
                  <a:pt x="306830" y="206375"/>
                  <a:pt x="317500" y="217045"/>
                  <a:pt x="317500" y="230188"/>
                </a:cubicBezTo>
                <a:close/>
                <a:moveTo>
                  <a:pt x="87313" y="349250"/>
                </a:moveTo>
                <a:cubicBezTo>
                  <a:pt x="74170" y="349250"/>
                  <a:pt x="63500" y="338580"/>
                  <a:pt x="63500" y="325438"/>
                </a:cubicBezTo>
                <a:cubicBezTo>
                  <a:pt x="63500" y="312295"/>
                  <a:pt x="74170" y="301625"/>
                  <a:pt x="87313" y="301625"/>
                </a:cubicBezTo>
                <a:cubicBezTo>
                  <a:pt x="100455" y="301625"/>
                  <a:pt x="111125" y="312295"/>
                  <a:pt x="111125" y="325438"/>
                </a:cubicBezTo>
                <a:cubicBezTo>
                  <a:pt x="111125" y="338580"/>
                  <a:pt x="100455" y="349250"/>
                  <a:pt x="87313" y="349250"/>
                </a:cubicBezTo>
                <a:close/>
                <a:moveTo>
                  <a:pt x="214313" y="325438"/>
                </a:moveTo>
                <a:cubicBezTo>
                  <a:pt x="214313" y="338580"/>
                  <a:pt x="203642" y="349250"/>
                  <a:pt x="190500" y="349250"/>
                </a:cubicBezTo>
                <a:cubicBezTo>
                  <a:pt x="177358" y="349250"/>
                  <a:pt x="166688" y="338580"/>
                  <a:pt x="166688" y="325438"/>
                </a:cubicBezTo>
                <a:cubicBezTo>
                  <a:pt x="166688" y="312295"/>
                  <a:pt x="177358" y="301625"/>
                  <a:pt x="190500" y="301625"/>
                </a:cubicBezTo>
                <a:cubicBezTo>
                  <a:pt x="203642" y="301625"/>
                  <a:pt x="214313" y="312295"/>
                  <a:pt x="214313" y="325438"/>
                </a:cubicBezTo>
                <a:close/>
                <a:moveTo>
                  <a:pt x="293688" y="349250"/>
                </a:moveTo>
                <a:cubicBezTo>
                  <a:pt x="280545" y="349250"/>
                  <a:pt x="269875" y="338580"/>
                  <a:pt x="269875" y="325438"/>
                </a:cubicBezTo>
                <a:cubicBezTo>
                  <a:pt x="269875" y="312295"/>
                  <a:pt x="280545" y="301625"/>
                  <a:pt x="293688" y="301625"/>
                </a:cubicBezTo>
                <a:cubicBezTo>
                  <a:pt x="306830" y="301625"/>
                  <a:pt x="317500" y="312295"/>
                  <a:pt x="317500" y="325438"/>
                </a:cubicBezTo>
                <a:cubicBezTo>
                  <a:pt x="317500" y="338580"/>
                  <a:pt x="306830" y="349250"/>
                  <a:pt x="293688" y="349250"/>
                </a:cubicBezTo>
                <a:close/>
                <a:moveTo>
                  <a:pt x="63500" y="420688"/>
                </a:moveTo>
                <a:cubicBezTo>
                  <a:pt x="63500" y="407491"/>
                  <a:pt x="74116" y="396875"/>
                  <a:pt x="87313" y="396875"/>
                </a:cubicBezTo>
                <a:lnTo>
                  <a:pt x="198438" y="396875"/>
                </a:lnTo>
                <a:cubicBezTo>
                  <a:pt x="211634" y="396875"/>
                  <a:pt x="222250" y="407491"/>
                  <a:pt x="222250" y="420688"/>
                </a:cubicBezTo>
                <a:cubicBezTo>
                  <a:pt x="222250" y="433884"/>
                  <a:pt x="211634" y="444500"/>
                  <a:pt x="198438" y="444500"/>
                </a:cubicBezTo>
                <a:lnTo>
                  <a:pt x="87313" y="444500"/>
                </a:lnTo>
                <a:cubicBezTo>
                  <a:pt x="74116" y="444500"/>
                  <a:pt x="63500" y="433884"/>
                  <a:pt x="63500" y="420688"/>
                </a:cubicBezTo>
                <a:close/>
                <a:moveTo>
                  <a:pt x="293688" y="396875"/>
                </a:moveTo>
                <a:cubicBezTo>
                  <a:pt x="306884" y="396875"/>
                  <a:pt x="317500" y="407491"/>
                  <a:pt x="317500" y="420688"/>
                </a:cubicBezTo>
                <a:cubicBezTo>
                  <a:pt x="317500" y="433884"/>
                  <a:pt x="306884" y="444500"/>
                  <a:pt x="293688" y="444500"/>
                </a:cubicBezTo>
                <a:cubicBezTo>
                  <a:pt x="280491" y="444500"/>
                  <a:pt x="269875" y="433884"/>
                  <a:pt x="269875" y="420688"/>
                </a:cubicBezTo>
                <a:cubicBezTo>
                  <a:pt x="269875" y="407491"/>
                  <a:pt x="280491" y="396875"/>
                  <a:pt x="293688" y="396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779000" y="5080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E[Z</a:t>
            </a:r>
            <a:r>
              <a:rPr lang="en-US" sz="22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= Rs. 2.39 Cr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E[Z*] = Rs. 1.60 Cr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002000" y="4064000"/>
            <a:ext cx="5842000" cy="2794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510000" y="444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6510000" y="5080000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Robustness Proof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= 0.4CD &gt; 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whenever C &gt; 0 (guaranteed)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40000" y="7366000"/>
            <a:ext cx="193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Since savings are positive with </a:t>
            </a: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1</a:t>
            </a: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LP result is robust to tariff uncertainty.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33.3% saving fraction is </a:t>
            </a: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preserved in expectation</a:t>
            </a: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 when the tariff is random.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0" y="9398000"/>
            <a:ext cx="14224000" cy="1270000"/>
          </a:xfrm>
          <a:prstGeom prst="rect">
            <a:avLst/>
          </a:prstGeom>
          <a:solidFill>
            <a:srgbClr val="1A1A1A">
              <a:alpha val="2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61000" y="95885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E[Savings] = 0.4μD = </a:t>
            </a: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79,80,249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SD[Z</a:t>
            </a:r>
            <a:r>
              <a:rPr lang="en-US" sz="24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= Rs. 16.5L | SD[Z*] = Rs. 11.0L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0" y="10160000"/>
            <a:ext cx="3175000" cy="3175000"/>
          </a:xfrm>
          <a:prstGeom prst="ellipse">
            <a:avLst/>
          </a:prstGeom>
          <a:solidFill>
            <a:srgbClr val="10B981">
              <a:alpha val="6275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0000" y="2159000"/>
            <a:ext cx="2540000" cy="38100"/>
          </a:xfrm>
          <a:prstGeom prst="rect">
            <a:avLst/>
          </a:prstGeom>
          <a:solidFill>
            <a:srgbClr val="10B981">
              <a:alpha val="25098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016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Future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10795000" cy="736600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79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050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556000"/>
            <a:ext cx="10033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two-period tariff approximates a continuously varying intraday schedule; an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hourly-indexed LP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would be more precise.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Refrigerator (≈ 41% of demand) cannot be fully shifted in reality; a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 cap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would reduce achievable savings.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MotorPump column is uniformly zero in this dataset; its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potential cannot be estimated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C050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dataset is a household-month cross-section, so demand is an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over 45,345 households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one household's annual bill.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573000" y="2540000"/>
            <a:ext cx="10541000" cy="73660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0" y="279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0" y="3556000"/>
            <a:ext cx="9779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 LP: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Minimize expected cost with C ~ N(μ,σ²) explicitly in the solver.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Quadratic Program (QP):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a comfort penalty to penalize over-shifting appliances.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Time-indexed model: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Hourly variables with capacity limits and minimum run-time constraints.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Smart-meter panel:</a:t>
            </a: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framework to a single-household longitudinal dataset for personalized optimization.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5000"/>
                </a:srgbClr>
              </a:gs>
            </a:gsLst>
            <a:lin ang="135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0955000" y="10160000"/>
            <a:ext cx="3175000" cy="3175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4000" y="254000"/>
            <a:ext cx="1905000" cy="1905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590800" y="1905000"/>
            <a:ext cx="19202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90800" y="3556000"/>
            <a:ext cx="19202400" cy="4318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25800" y="3810000"/>
            <a:ext cx="179324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Programming delivers provably optimal savings.</a:t>
            </a:r>
            <a:endParaRPr lang="en-US" sz="1600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KKT conditions uniquely determine the global optimum: x</a:t>
            </a:r>
            <a:r>
              <a:rPr lang="en-US" sz="15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 = R</a:t>
            </a:r>
            <a:r>
              <a:rPr lang="en-US" sz="15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∀i, meaning shift ALL demand to off-peak. This is analytically proven, not heuristic.</a:t>
            </a:r>
            <a:endParaRPr lang="en-US" sz="1600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1/3 saving arises from the tariff structure alone: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S/Z</a:t>
            </a:r>
            <a:r>
              <a:rPr lang="en-US" sz="1500" baseline="-4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(c</a:t>
            </a:r>
            <a:r>
              <a:rPr lang="en-US" sz="1500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− c</a:t>
            </a:r>
            <a:r>
              <a:rPr lang="en-US" sz="1500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(o)</a:t>
            </a: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/ c</a:t>
            </a:r>
            <a:r>
              <a:rPr lang="en-US" sz="1500" baseline="30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(p)</a:t>
            </a:r>
            <a:r>
              <a:rPr lang="en-US" sz="2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(1.2c̅ − 0.8c̅) / 1.2c̅ = 0.4/1.2 = </a:t>
            </a: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1/3</a:t>
            </a:r>
            <a:endParaRPr lang="en-US" sz="1600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Stochastic extension confirms robustness: E[S] = 0.4μD &gt; 0 with probability 1, independent of tariff uncertainty.</a:t>
            </a:r>
            <a:endParaRPr lang="en-US" sz="1600" dirty="0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2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result: Rs. 2.39 Cr → Rs. 1.60 Cr annually — a Rs. 79.8 Lakh saving at Rs. 3.35/kWh efficiency.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60800" y="8382000"/>
            <a:ext cx="508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33.3%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Savings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0" y="8382000"/>
            <a:ext cx="508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 3.35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kWh Efficiency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443200" y="8382000"/>
            <a:ext cx="508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to Uncertainty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100000">
                <a:srgbClr val="1A1A1A">
                  <a:alpha val="13000"/>
                </a:srgbClr>
              </a:gs>
            </a:gsLst>
            <a:lin ang="108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21590000" y="10795000"/>
            <a:ext cx="2540000" cy="2540000"/>
          </a:xfrm>
          <a:prstGeom prst="ellipse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54000" y="254000"/>
            <a:ext cx="1905000" cy="1905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540000" y="1905000"/>
            <a:ext cx="1930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40000" y="3429000"/>
            <a:ext cx="1930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42000" y="4826000"/>
            <a:ext cx="1270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842000" y="482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Instructor: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Kaushik Jana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Using Numerical Methods | BSDS, ISI Kolkata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40000" y="6350000"/>
            <a:ext cx="1930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Contributions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" y="7239000"/>
            <a:ext cx="6858000" cy="228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7366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Ankesh Raj Aniket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Mathematical formulation, convexity proof, KKT derivation, stochastic extension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63000" y="7239000"/>
            <a:ext cx="6858000" cy="228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017000" y="7366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 Danish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collection, cleaning, descriptive analysis, lpSolve implementation, figures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256000" y="7239000"/>
            <a:ext cx="6858000" cy="228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0" y="7366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Dunga Pardha Saradhi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Sections 1-3 and 5, tables, final LaTeX typesetting and proofreading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40000" y="10160000"/>
            <a:ext cx="193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Kaggle Electricity Bill Dataset | R Package: lpSolve | April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1628</Words>
  <Application>Microsoft Office PowerPoint</Application>
  <PresentationFormat>Custom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Liter</vt:lpstr>
      <vt:lpstr>QuattrocentoSans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Bill Minimization via Linear Programming</dc:title>
  <dc:subject>Electricity Bill Minimization via Linear Programming</dc:subject>
  <dc:creator>Kimi</dc:creator>
  <cp:lastModifiedBy>ANKESH RAJ ANIKET</cp:lastModifiedBy>
  <cp:revision>2</cp:revision>
  <dcterms:created xsi:type="dcterms:W3CDTF">2026-05-03T05:20:13Z</dcterms:created>
  <dcterms:modified xsi:type="dcterms:W3CDTF">2026-05-03T06:15:17Z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{"Label":"Electricity Bill Minimization via Linear Programming","ContentProducer":"001191110108MACG2KBH8F10000","ProduceID":"19dec456-dd02-8304-8000-000081ffc845","ReservedCode1":"","ContentPropagator":"001191110108MACG2KBH8F20000","PropagateID":"19dec456-dd02-8304-8000-000081ffc845","ReservedCode2":""}</vt:lpwstr>
  </property>
</Properties>
</file>