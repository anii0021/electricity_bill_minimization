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13716000" cy="24384000"/>
  <p:embeddedFontLs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8.6922394835780667E-2"/>
          <c:y val="0"/>
          <c:w val="0.86875044335674256"/>
          <c:h val="0.9420161309623531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Demand (kWh)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Motor Pump</c:v>
                </c:pt>
                <c:pt idx="1">
                  <c:v>Monitor</c:v>
                </c:pt>
                <c:pt idx="2">
                  <c:v>AC</c:v>
                </c:pt>
                <c:pt idx="3">
                  <c:v>Television</c:v>
                </c:pt>
                <c:pt idx="4">
                  <c:v>Fan</c:v>
                </c:pt>
                <c:pt idx="5">
                  <c:v>Refrigerator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129916</c:v>
                </c:pt>
                <c:pt idx="2">
                  <c:v>68197</c:v>
                </c:pt>
                <c:pt idx="3">
                  <c:v>566932</c:v>
                </c:pt>
                <c:pt idx="4">
                  <c:v>634408</c:v>
                </c:pt>
                <c:pt idx="5">
                  <c:v>984234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E-4956-9922-714346F01D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(Peak Tariff)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AC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6371726</c:v>
                </c:pt>
                <c:pt idx="1">
                  <c:v>9885231</c:v>
                </c:pt>
                <c:pt idx="2">
                  <c:v>684942</c:v>
                </c:pt>
                <c:pt idx="3">
                  <c:v>5694026</c:v>
                </c:pt>
                <c:pt idx="4">
                  <c:v>1304821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08-4F46-9045-F09E88FF3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(Off-Peak Tariff)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AC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4247817</c:v>
                </c:pt>
                <c:pt idx="1">
                  <c:v>6590154</c:v>
                </c:pt>
                <c:pt idx="2">
                  <c:v>456628</c:v>
                </c:pt>
                <c:pt idx="3">
                  <c:v>3796017</c:v>
                </c:pt>
                <c:pt idx="4">
                  <c:v>869881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08-4F46-9045-F09E88FF3E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E2-4091-B77D-141A3631E02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E2-4091-B77D-141A3631E02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E2-4091-B77D-141A3631E02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E2-4091-B77D-141A3631E02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Optimized Cost (66.7%)</c:v>
                </c:pt>
                <c:pt idx="1">
                  <c:v>Savings (33.3%)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159.60499999999999</c:v>
                </c:pt>
                <c:pt idx="1">
                  <c:v>79.802499999999995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E2-4091-B77D-141A3631E0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28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 (Rs.)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AC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2123909</c:v>
                </c:pt>
                <c:pt idx="1">
                  <c:v>3295077</c:v>
                </c:pt>
                <c:pt idx="2">
                  <c:v>228314</c:v>
                </c:pt>
                <c:pt idx="3">
                  <c:v>1898009</c:v>
                </c:pt>
                <c:pt idx="4">
                  <c:v>434940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C-4476-BC02-3BB23FCAD7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37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00" y="6350000"/>
            <a:ext cx="4826000" cy="4826000"/>
          </a:xfrm>
          <a:prstGeom prst="ellipse">
            <a:avLst/>
          </a:prstGeom>
          <a:solidFill>
            <a:srgbClr val="10B981">
              <a:alpha val="941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685000" y="8255000"/>
            <a:ext cx="3302000" cy="3302000"/>
          </a:xfrm>
          <a:prstGeom prst="ellipse">
            <a:avLst/>
          </a:prstGeom>
          <a:solidFill>
            <a:srgbClr val="1A1A1A">
              <a:alpha val="705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1" y="1778000"/>
            <a:ext cx="2013284" cy="67644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</a:rPr>
              <a:t>GROUP-15</a:t>
            </a:r>
            <a:endParaRPr lang="en-IN" sz="3200" b="1" dirty="0">
              <a:solidFill>
                <a:srgbClr val="FFFF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778000"/>
            <a:ext cx="59436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43700" y="1346200"/>
            <a:ext cx="36830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080000"/>
            <a:ext cx="22352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Electricity Bill Minimization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7874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Linear Programming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9144000"/>
            <a:ext cx="223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Statistical Institute, Kolkata | BSDS COURSE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16000" y="9906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Ankesh Raj Aniket (BSDCC2502) · Md Danish (BSDCC2510) · Dunga Pardha Saradhi (BSDCC2506)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1016000" y="10574421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Instructor: Kaushik Jana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16000" y="12954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54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&amp; Overview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32000" y="3017587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context and key findings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700000" y="2540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0" y="254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Numerical Analysis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716000" y="3048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breakdown, charts, appliance-level data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16000" y="431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Problem &amp; Dataset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32000" y="4826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formulation, data source, variables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700000" y="431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Stochastic, Limitations &amp; Future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16000" y="4826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tariff model, robustness, scope, next steps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16000" y="6096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32000" y="609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Formulation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32000" y="6604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 framework, steps, R implementation, KKT proof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700000" y="6096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0" y="609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716000" y="6604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 and final summary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080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&amp;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the Problem, method, and findings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15240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13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11430000" cy="6035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report formulates the household electricity bill minimisation problem as a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Programme (LP)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 a two-period peak/off-peak tariff structure.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Appliance-level annual demands are computed from a Kaggle dataset of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45,345 household-month observations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6 appliances and 12 calendar months.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an average observed tariff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c̄ = 8.3696 Rs./kWh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peak (1.2c̄) and off-peak (0.8c̄) rates are constructed. The LP is solved in R using lpSolve.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prove analytically via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KKT conditions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the unique optimal solution satisfies x*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appliances, guaranteeing savings of exactly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1/3 ≈ 33.3%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baseline cost.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35000" y="2413000"/>
            <a:ext cx="10033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0" y="2476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45,345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0" y="3238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Household-Month Observations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335000" y="3937000"/>
            <a:ext cx="10033000" cy="1270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0" y="4000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0" y="4762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Appliances Analyzed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335000" y="5461000"/>
            <a:ext cx="10033000" cy="127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0" y="5524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0" y="6286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Savings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335000" y="6985000"/>
            <a:ext cx="10033000" cy="127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0" y="7048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3.35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0" y="7810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Efficiency per kWh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" y="95250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9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127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8890000"/>
            <a:ext cx="3175000" cy="3175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80000" y="7112000"/>
            <a:ext cx="142240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Problem &amp;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does timing of electricity usage matter?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540000"/>
            <a:ext cx="10541000" cy="35560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70000" y="2667000"/>
            <a:ext cx="1003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HOURS (18:00 – 22:00)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3302000"/>
            <a:ext cx="1003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aggregate demand → elevated unit rates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Tariff: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c⁽ᵖ⁾ = 1.2c̄ = Rs. 10.04 / kWh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065000" y="2540000"/>
            <a:ext cx="10541000" cy="355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19000" y="2667000"/>
            <a:ext cx="1003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HOURS (23:00 – 06:00)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19000" y="3302000"/>
            <a:ext cx="1003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 lightly loaded → lower unit rates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Tariff: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c⁽ᵒ⁾ = 0.8c̄ = Rs. 6.70 / kWh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303000" y="3937000"/>
            <a:ext cx="1016000" cy="76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393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6477000"/>
            <a:ext cx="21590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660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Question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70000" y="7048500"/>
            <a:ext cx="210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how much can the annual electricity bill of a household be reduced if appliance usage is optimally reallocated from peak-hour to off-peak-hour tariff windows using linear programming — and what is the per-unit savings efficiency of this reallocation?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841500" y="8509000"/>
            <a:ext cx="2051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Variables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Dataset contains  45,345 household-month records and covers multiple Indian cities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45,345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(n)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938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938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38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399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7399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99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122498"/>
              </p:ext>
            </p:extLst>
          </p:nvPr>
        </p:nvGraphicFramePr>
        <p:xfrm>
          <a:off x="1016000" y="3810000"/>
          <a:ext cx="22352000" cy="59436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Annual Demand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Flexibility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6,34,408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Ceiling fan usage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9,84,234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41%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24/7 operation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Air Conditioner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68,197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Part. 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Seasonal usage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5,66,932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Entertainment device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1,29,916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Computer display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 Pump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Schedulable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Water pump (no data)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TariffRate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Rs./kWh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 electricity cost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ElectricityBill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Rs.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bill amount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016000" y="10668000"/>
            <a:ext cx="2235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Cleaning: No missing values. MotorPump column = 0 throughout (retained). Outliers verified. Tariff constructed as c⁽ᵖ⁾ = 1.2c̄ and c⁽ᵒ⁾ = 0.8c̄ where c̄ = 8.3696 Rs./kWh.</a:t>
            </a:r>
            <a:endParaRPr lang="en-US" sz="2800" b="1" dirty="0"/>
          </a:p>
        </p:txBody>
      </p:sp>
      <p:sp>
        <p:nvSpPr>
          <p:cNvPr id="21" name="Text 18"/>
          <p:cNvSpPr/>
          <p:nvPr/>
        </p:nvSpPr>
        <p:spPr>
          <a:xfrm rot="-5400000">
            <a:off x="21971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key variables and annual energy demand by appliance (n = 45,345)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15240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284342"/>
              </p:ext>
            </p:extLst>
          </p:nvPr>
        </p:nvGraphicFramePr>
        <p:xfrm>
          <a:off x="1016000" y="2286000"/>
          <a:ext cx="11430000" cy="5334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SD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Median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 (kWh)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13.99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 (kWh)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21.71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1.67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 (kWh)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2.50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 (kWh)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12.50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 (kWh)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2.86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3.00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TariffRate (Rs/kWh)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8.37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7.40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8.40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9.30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Bill (Rs.)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4,311.8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1,073.9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807.5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4,299.4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8,286.3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7874000"/>
            <a:ext cx="11430000" cy="1318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Refrigerator has the highest mean usage (21.71 kWh/month) and dominates annual demand. AC and Monitor show many zero-usage months (high variability).</a:t>
            </a:r>
            <a:endParaRPr lang="en-US" sz="2800" b="1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94952501"/>
              </p:ext>
            </p:extLst>
          </p:nvPr>
        </p:nvGraphicFramePr>
        <p:xfrm>
          <a:off x="12705347" y="2286000"/>
          <a:ext cx="11277600" cy="774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42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5000"/>
                </a:srgbClr>
              </a:gs>
            </a:gsLst>
            <a:lin ang="135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9685000" y="8890000"/>
            <a:ext cx="3810000" cy="381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000" y="635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Programming framework — solved in R using lpSolve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94000"/>
            <a:ext cx="889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5-Step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LP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38000" y="2540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Appliances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38000" y="2984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6 appliances: Fan, Refrigerator, AC, TV, Monitor, Motor Pump. Each characterized by annual energy demand Rᵢ (kWh) from dataset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0" y="406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38000" y="406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Demands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38000" y="4572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45,345 records by appliance across all 12 months. Total demand D = ΣRᵢ = 23,83,687 kWh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938000" y="558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Tariff Rates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938000" y="609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tariff c̄ = 8.3696 Rs./kWh. Peak: c⁽ᵖ⁾ = 1.2c̄ = 10.04, Off-peak: c⁽ᵒ⁾ = 0.8c̄ = 6.70 Rs./kWh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795000" y="711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938000" y="7112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Formulate LP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938000" y="7620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Objective: minimize Σ c⁽ᵒ⁾·xᵢ. Constraints: xᵢ ≥ Rᵢ (demand) and xᵢ ≥ 0 (non-negativity) for all i.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795000" y="863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938000" y="863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&amp; Verify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938000" y="914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+ lpSolve package solves the LP. KKT conditions analytically confirm the unique optimal solution x*ᵢ = Rᵢ.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842000"/>
            <a:ext cx="11214100" cy="25400"/>
          </a:xfrm>
          <a:prstGeom prst="rect">
            <a:avLst/>
          </a:prstGeom>
          <a:solidFill>
            <a:srgbClr val="10B981">
              <a:alpha val="1451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Formulation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variables, LP structure, and convexity of the feasible 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10795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349500"/>
            <a:ext cx="10795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349500"/>
            <a:ext cx="1054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Variables &amp; Parameters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3000" y="2984500"/>
            <a:ext cx="1054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xᵢ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Off-peak energy allocated to appliance i (kWh)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Rᵢ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Total annual energy requirement of appliance i (kWh)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c⁽ᵖ⁾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Peak-hour unit tariff = 1.2c̄ = Rs. 10.04/kWh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c⁽ᵒ⁾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Off-peak unit tariff = 0.8c̄ = Rs. 6.70/kWh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c̄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Sample mean tariff = 8.3696 Rs./kWh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Σᵢ Rᵢ = 23,83,687 kWh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2319000" y="2349500"/>
            <a:ext cx="1104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9000" y="2349500"/>
            <a:ext cx="11049000" cy="50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0" y="23495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Linear Programme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446000" y="29845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Z(x) = Σᵢ c⁽ᵒ⁾ · xᵢ = 0.8c̄ · Σxᵢ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 to: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(C1) xᵢ ≥ Rᵢ ∀ i ∈ I ← demand must be met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(C2) xᵢ ≥ 0 ∀ i ∈ I ← non-negativity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= Σᵢ Rᵢ = 23,83,687 kWh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016000" y="6223000"/>
            <a:ext cx="2235200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6223000"/>
            <a:ext cx="22352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223000"/>
            <a:ext cx="2209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Convexity Proof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43000" y="6858000"/>
            <a:ext cx="2209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feasible set F = {x ∈ ℝⁿ : xᵢ ≥ Rᵢ, xᵢ ≥ 0, ∀i} is the intersection of 2n closed half-spaces → a closed convex polyhedron. The objective Z(x) = c⁽ᵒ⁾1ᵀx is affine (both convex and concave). Therefore, the LP is a convex programme: any local minimum is also a global minimum, and the minimum is attained at a vertex of F.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16000" y="8890000"/>
            <a:ext cx="22352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8890000"/>
            <a:ext cx="2209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form: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 (c⁽ᵒ⁾)ᵀ x s.t. Iₙ x ≥ R, x ≥ 0 where R = (R₁, ..., Rₙ)ᵀ and Iₙ is the n×n identity matrix.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KKT Conditions &amp; Analytical Proof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Proving the unique optimal solution x*ᵢ = Rᵢ via Karush-Kuhn-Tucker conditions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10795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349500"/>
            <a:ext cx="10795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349500"/>
            <a:ext cx="1054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Lagrangian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984500"/>
            <a:ext cx="1054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L(x, λ, μ) = c⁽ᵒ⁾Σxᵢ − Σλᵢ(xᵢ − Rᵢ) − Σμᵢxᵢ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Associate λᵢ ≥ 0 with demand constraint (C1); μᵢ ≥ 0 with non-negativity (C2).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319000" y="2349500"/>
            <a:ext cx="1104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9000" y="2349500"/>
            <a:ext cx="11049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0" y="23495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Stationarity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46000" y="29845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∂L/∂xᵢ = c⁽ᵒ⁾ − λᵢ − μᵢ = 0 ⟹ λᵢ + μᵢ = c⁽ᵒ⁾ &gt; 0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c⁽ᵒ⁾ = 6.70 &gt; 0, the sum λᵢ + μᵢ must equal this positive constant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4250" y="5842000"/>
            <a:ext cx="10795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5969000"/>
            <a:ext cx="10795000" cy="50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969000"/>
            <a:ext cx="1054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Compl. Slackness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604000"/>
            <a:ext cx="1054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λᵢ(xᵢ − Rᵢ) = 0 and μᵢ · xᵢ = 0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Rᵢ &gt; 0, primal feasibility forces xᵢ ≥ Rᵢ &gt; 0, so the second condition gives μᵢ = 0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319000" y="5969000"/>
            <a:ext cx="1104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19000" y="5969000"/>
            <a:ext cx="11049000" cy="50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59690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Optimal 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6604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μᵢ = 0 ⟹ λᵢ = c⁽ᵒ⁾ &gt; 0 ⟹ xᵢ* = Rᵢ ∀ i ∈ I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global optimum: shift ALL demand to off-peak. Savings = exactly 1/3 of baseline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080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Analysis — Before vs After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(peak tariff) vs optimized (off-peak tariff) annual costs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5080000" cy="12700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2.39 Cr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Cost (Peak Tariff)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0" y="2349500"/>
            <a:ext cx="5080000" cy="1270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1.60 Cr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Cost (Off-Peak Tariff)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938000" y="2349500"/>
            <a:ext cx="5080000" cy="127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938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79.8 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38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Savings (33.3%)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99000" y="2349500"/>
            <a:ext cx="5080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7399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3.35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99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(per kWh shifted)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1016000" y="3937000"/>
          <a:ext cx="13970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15494000" y="3937000"/>
            <a:ext cx="7874000" cy="6604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494000" y="3937000"/>
            <a:ext cx="7874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15621000" y="393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Derivation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621000" y="4572000"/>
            <a:ext cx="7620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= 23,83,687 kWh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53E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1.2c̄ · D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2,39,40,746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Z* = 0.8c̄ · D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1,59,60,497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= 0.4c̄ · D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79,80,249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S/Z</a:t>
            </a:r>
            <a:r>
              <a:rPr lang="en-US" sz="2800" b="1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1 − 0.8/1.2 = 1/3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Appliance-Level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numerical output from lpSolve — all values in 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02993"/>
              </p:ext>
            </p:extLst>
          </p:nvPr>
        </p:nvGraphicFramePr>
        <p:xfrm>
          <a:off x="689811" y="2349500"/>
          <a:ext cx="22678189" cy="7150104"/>
        </p:xfrm>
        <a:graphic>
          <a:graphicData uri="http://schemas.openxmlformats.org/drawingml/2006/table">
            <a:tbl>
              <a:tblPr/>
              <a:tblGrid>
                <a:gridCol w="317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4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4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8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7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1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67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Demand Rᵢ (kWh)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Before (Rs.)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After (Rs.)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Savings (Rs.)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 Saved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6,34,408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63,71,726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42,47,817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21,23,909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9,84,234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98,85,231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65,90,154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32,95,077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41%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68,197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6,84,942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4,56,628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2,28,314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Part. 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5,66,932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56,94,026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37,96,017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18,98,009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1,29,916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13,04,821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8,69,881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4,34,940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 Pump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Schedulable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23,83,687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2,39,40,746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1,59,60,497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79,80,249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 Visualization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composition and savings efficiency across appliances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862701649"/>
              </p:ext>
            </p:extLst>
          </p:nvPr>
        </p:nvGraphicFramePr>
        <p:xfrm>
          <a:off x="1016000" y="2349500"/>
          <a:ext cx="10795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12319000" y="2349500"/>
          <a:ext cx="11049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1016000" y="9398000"/>
            <a:ext cx="22352000" cy="635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70000" y="9398000"/>
            <a:ext cx="218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Ratio: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= S / D = 79,80,249 / 23,83,687 = </a:t>
            </a: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3.35 per kWh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shifted to off-peak (independent of which appliance provides the demand)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9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127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8890000"/>
            <a:ext cx="3175000" cy="3175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80000" y="7112000"/>
            <a:ext cx="142240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Stochastic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of the LP Result Under Random Tariff Uncertainty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540000"/>
            <a:ext cx="6858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2540000"/>
            <a:ext cx="6858000" cy="635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40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Tariff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365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~ N(μ, σ²)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 = 8.3696 Rs./kWh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 = 0.5770 Rs./kWh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Rate: </a:t>
            </a:r>
            <a:r>
              <a:rPr lang="en-US" sz="4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1.2C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Rate: </a:t>
            </a:r>
            <a:r>
              <a:rPr lang="en-US" sz="4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0.8C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382000" y="2540000"/>
            <a:ext cx="6858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2540000"/>
            <a:ext cx="6858000" cy="635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540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Values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3365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E[Z</a:t>
            </a:r>
            <a:r>
              <a:rPr lang="en-US" sz="32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1.2μD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2,39,40,746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E[Z*] = 0.8μD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1,59,60,497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E[S] = 0.4μD = Rs. 79,80,249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SD[Z</a:t>
            </a:r>
            <a:r>
              <a:rPr lang="en-US" sz="32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Rs. 16,50,441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SD[Z*] = Rs. 11,00,294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5748000" y="2540000"/>
            <a:ext cx="6858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48000" y="2540000"/>
            <a:ext cx="6858000" cy="635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0" y="2540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Proof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75000" y="3365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= 0.4 · C · D &gt; 0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whenever C &gt; 0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7.40 &gt; 0 (from data)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∴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P(S &gt; 0) = 1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savings are positive with probability 1, the LP result is robust to tariff uncertainty. The 33.3% saving fraction is preserved in expectation even when the tariff is random (C ~ Normal).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42" y="48126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5000"/>
                </a:srgbClr>
              </a:gs>
            </a:gsLst>
            <a:lin ang="135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9685000" y="8890000"/>
            <a:ext cx="3810000" cy="381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000" y="635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the Study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boundaries and practical constraints of the LP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94000"/>
            <a:ext cx="889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Key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38000" y="2540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Two-Period Tariff Approximation</a:t>
            </a:r>
            <a:endParaRPr lang="en-US" sz="1600" u="sng" dirty="0"/>
          </a:p>
        </p:txBody>
      </p:sp>
      <p:sp>
        <p:nvSpPr>
          <p:cNvPr id="12" name="Text 10"/>
          <p:cNvSpPr/>
          <p:nvPr/>
        </p:nvSpPr>
        <p:spPr>
          <a:xfrm>
            <a:off x="11938000" y="304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uses only two time periods (peak and off-peak). In reality, electricity tariffs vary continuously throughout the day. An hourly-indexed LP with 24 decision variables per appliance per day would be more precise but significantly more complex.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38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Refrigerator Cannot Be Fully Shifted</a:t>
            </a:r>
            <a:endParaRPr lang="en-US" sz="1600" u="sng" dirty="0"/>
          </a:p>
        </p:txBody>
      </p:sp>
      <p:sp>
        <p:nvSpPr>
          <p:cNvPr id="15" name="Text 13"/>
          <p:cNvSpPr/>
          <p:nvPr/>
        </p:nvSpPr>
        <p:spPr>
          <a:xfrm>
            <a:off x="11938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Refrigerator accounts for ≈ 41% of total demand and must run continuously — it cannot realistically be entirely shifted to off-peak windows. A flexibility cap constraint xᵢ ≤ αᵢ · Rᵢ would reduce the achievable savings from 33.3%.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0" y="609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38000" y="609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Pump Data is Zero</a:t>
            </a:r>
            <a:endParaRPr lang="en-US" sz="1600" u="sng" dirty="0"/>
          </a:p>
        </p:txBody>
      </p:sp>
      <p:sp>
        <p:nvSpPr>
          <p:cNvPr id="18" name="Text 16"/>
          <p:cNvSpPr/>
          <p:nvPr/>
        </p:nvSpPr>
        <p:spPr>
          <a:xfrm>
            <a:off x="11938000" y="660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MotorPump column is uniformly zero across all 45,345 records in this dataset. Its real-world savings potential (it is a schedulable appliance) cannot be estimated from this data.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5000" y="787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38000" y="787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Cross-Section, Not One Household</a:t>
            </a:r>
            <a:endParaRPr lang="en-US" sz="1600" u="sng" dirty="0"/>
          </a:p>
        </p:txBody>
      </p:sp>
      <p:sp>
        <p:nvSpPr>
          <p:cNvPr id="21" name="Text 19"/>
          <p:cNvSpPr/>
          <p:nvPr/>
        </p:nvSpPr>
        <p:spPr>
          <a:xfrm>
            <a:off x="11938000" y="838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total demand D = 23,83,687 kWh is the aggregate across all 45,345 households, not a single household's annual bill. The per-household interpretation requires dividing by n = 45,345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Extensions and improvements to the current LP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10795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7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476500"/>
            <a:ext cx="939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111500"/>
            <a:ext cx="1054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Minimise E</a:t>
            </a:r>
            <a:r>
              <a:rPr lang="en-US" sz="24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[c⁽ᵒ⁾(C)·1ᵀx] with C ~ N(μ, σ²) explicitly in the solver. This accounts for tariff uncertainty directly in the optimisation rather than post-hoc.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319000" y="2349500"/>
            <a:ext cx="1104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46000" y="247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89000" y="2476500"/>
            <a:ext cx="96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Quadratic Programme (QP)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46000" y="31115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a comfort penalty term γ/2 · ‖x − R‖² to the objective. This penalises over-shifting appliances beyond their demand Rᵢ, trading off savings against user comfort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016000" y="5969000"/>
            <a:ext cx="10795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6096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6096000"/>
            <a:ext cx="939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Time-Indexed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731000"/>
            <a:ext cx="1054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hourly decision variables xᵢₜ with time-varying tariffs cₜ, appliance capacity limits, and minimum run-time constraints. Captures real intraday demand patterns.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319000" y="5969000"/>
            <a:ext cx="1104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46000" y="6096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589000" y="6096000"/>
            <a:ext cx="96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Smart-Meter Panel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6731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the LP framework to a single-household longitudinal dataset from smart meters for personalised bill optimisation. Enables appliance-specific flexibility modelling.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300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889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and Takeaways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540000"/>
            <a:ext cx="4572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699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Guaranteed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38000" y="2540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 delivers provably optimal savings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38000" y="304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KKT conditions uniquely determine the global optimum: x*ᵢ = Rᵢ ∀i — meaning all demand is scheduled off-peak. This is analytically proven, not heuristic or simulation-based.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38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1/3 savings arises from tariff structure alone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38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S/Z</a:t>
            </a: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(c⁽ᵖ⁾ − c⁽ᵒ⁾)/c⁽ᵖ⁾ = (1.2c̄ − 0.8c̄)/1.2c̄ = 0.4/1.2 = 1/3. This is independent of the appliance mix {Rᵢ} — only the tariff ratio c⁽ᵖ⁾/c⁽ᵒ⁾ = 1.5 matters.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0" y="609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938000" y="609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extension confirms robustness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938000" y="660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E[S] = 0.4μD &gt; 0 with probability 1, even when C ~ N(μ, σ²). The 33.3% saving fraction is preserved in expectation under random tariff uncertainty.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5000" y="787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938000" y="787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financial result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938000" y="838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bill: Rs. 2,39,40,746 → Rs. 1,59,60,497 — a saving of Rs. 79,80,249 at an efficiency of Rs. 3.35 per kWh shifted to off-peak.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6000" y="9906000"/>
            <a:ext cx="6858000" cy="101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9906000"/>
            <a:ext cx="685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Guaranteed Savings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9906000"/>
            <a:ext cx="6858000" cy="101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0" y="9906000"/>
            <a:ext cx="685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Rs.3.35 / kWh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748000" y="9906000"/>
            <a:ext cx="6858000" cy="101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15748000" y="9906000"/>
            <a:ext cx="685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Robust to Uncertainty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4379" y="-77537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300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889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540000"/>
            <a:ext cx="2235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318000"/>
            <a:ext cx="223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000" b="1" u="sng" dirty="0"/>
          </a:p>
        </p:txBody>
      </p:sp>
      <p:sp>
        <p:nvSpPr>
          <p:cNvPr id="7" name="Text 5"/>
          <p:cNvSpPr/>
          <p:nvPr/>
        </p:nvSpPr>
        <p:spPr>
          <a:xfrm>
            <a:off x="1016000" y="5334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Contributions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Ankesh Raj Aniket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(BSDCC2502)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654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formulation of the LP; convexity proof; KKT derivation; stochastic extension; preparation of Section 4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 Danish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(BSDCC2510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654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collection, cleaning, and descriptive analysis; lpSolve implementation in R; generation of all four figures</a:t>
            </a:r>
            <a:r>
              <a:rPr lang="en-US" sz="3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256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Dunga Pardha Saradhi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(BSDCC2506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256000" y="654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Sections 1, 2, 3, and 5; preparation of all tables; final LaTeX typesetting and proofreading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8255000"/>
            <a:ext cx="2235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07242" y="8763000"/>
            <a:ext cx="13242757" cy="311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dirty="0">
                <a:solidFill>
                  <a:schemeClr val="bg1"/>
                </a:solidFill>
              </a:rPr>
              <a:t>ANY QUESTIONS ?</a:t>
            </a:r>
          </a:p>
        </p:txBody>
      </p:sp>
      <p:sp>
        <p:nvSpPr>
          <p:cNvPr id="16" name="Text 14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2417</Words>
  <Application>Microsoft Office PowerPoint</Application>
  <PresentationFormat>Custom</PresentationFormat>
  <Paragraphs>435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QuattrocentoSans</vt:lpstr>
      <vt:lpstr>Quattrocento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Bill Minimization via Linear Programming</dc:title>
  <dc:subject>Electricity Bill Minimization via Linear Programming</dc:subject>
  <dc:creator>Kimi</dc:creator>
  <cp:lastModifiedBy>ANKESH RAJ ANIKET</cp:lastModifiedBy>
  <cp:revision>4</cp:revision>
  <dcterms:created xsi:type="dcterms:W3CDTF">2026-05-04T03:03:39Z</dcterms:created>
  <dcterms:modified xsi:type="dcterms:W3CDTF">2026-05-04T04:19:03Z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{"Label":"Electricity Bill Minimization via Linear Programming","ContentProducer":"001191110108MACG2KBH8F10000","ProduceID":"19df0ebd-69f2-8e0f-8000-00007b7cfc0f","ReservedCode1":"","ContentPropagator":"001191110108MACG2KBH8F20000","PropagateID":"19df0ebd-69f2-8e0f-8000-00007b7cfc0f","ReservedCode2":""}</vt:lpwstr>
  </property>
</Properties>
</file>