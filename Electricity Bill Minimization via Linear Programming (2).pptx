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24384000" cy="13716000"/>
  <p:notesSz cx="13716000" cy="24384000"/>
  <p:embeddedFontLst>
    <p:embeddedFont>
      <p:font typeface="Liter" panose="020B0604020202020204" charset="0"/>
      <p:regular r:id="rId20"/>
    </p:embeddedFont>
    <p:embeddedFont>
      <p:font typeface="Quattrocento Sans" panose="020B0502050000020003" pitchFamily="3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48" d="100"/>
          <a:sy n="48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Demand (kWh)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Motor Pump</c:v>
                </c:pt>
                <c:pt idx="1">
                  <c:v>Monitor</c:v>
                </c:pt>
                <c:pt idx="2">
                  <c:v>AC</c:v>
                </c:pt>
                <c:pt idx="3">
                  <c:v>Television</c:v>
                </c:pt>
                <c:pt idx="4">
                  <c:v>Fan</c:v>
                </c:pt>
                <c:pt idx="5">
                  <c:v>Refrigerator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129916</c:v>
                </c:pt>
                <c:pt idx="2">
                  <c:v>68197</c:v>
                </c:pt>
                <c:pt idx="3">
                  <c:v>566932</c:v>
                </c:pt>
                <c:pt idx="4">
                  <c:v>634408</c:v>
                </c:pt>
                <c:pt idx="5">
                  <c:v>984234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45E-4956-9922-714346F01DB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 (Peak Tariff)</c:v>
                </c:pt>
              </c:strCache>
            </c:strRef>
          </c:tx>
          <c:spPr>
            <a:solidFill>
              <a:srgbClr val="E53E3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Fan</c:v>
                </c:pt>
                <c:pt idx="1">
                  <c:v>Refrigerator</c:v>
                </c:pt>
                <c:pt idx="2">
                  <c:v>AC</c:v>
                </c:pt>
                <c:pt idx="3">
                  <c:v>Television</c:v>
                </c:pt>
                <c:pt idx="4">
                  <c:v>Monitor</c:v>
                </c:pt>
              </c:strCache>
            </c:strRef>
          </c:cat>
          <c:val>
            <c:numRef>
              <c:f>Sheet1!$B$2:$B$6</c:f>
              <c:numCache>
                <c:formatCode>#,##0</c:formatCode>
                <c:ptCount val="5"/>
                <c:pt idx="0">
                  <c:v>6371726</c:v>
                </c:pt>
                <c:pt idx="1">
                  <c:v>9885231</c:v>
                </c:pt>
                <c:pt idx="2">
                  <c:v>684942</c:v>
                </c:pt>
                <c:pt idx="3">
                  <c:v>5694026</c:v>
                </c:pt>
                <c:pt idx="4">
                  <c:v>1304821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08-4F46-9045-F09E88FF3EC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(Off-Peak Tariff)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Fan</c:v>
                </c:pt>
                <c:pt idx="1">
                  <c:v>Refrigerator</c:v>
                </c:pt>
                <c:pt idx="2">
                  <c:v>AC</c:v>
                </c:pt>
                <c:pt idx="3">
                  <c:v>Television</c:v>
                </c:pt>
                <c:pt idx="4">
                  <c:v>Monitor</c:v>
                </c:pt>
              </c:strCache>
            </c:strRef>
          </c:cat>
          <c:val>
            <c:numRef>
              <c:f>Sheet1!$C$2:$C$6</c:f>
              <c:numCache>
                <c:formatCode>#,##0</c:formatCode>
                <c:ptCount val="5"/>
                <c:pt idx="0">
                  <c:v>4247817</c:v>
                </c:pt>
                <c:pt idx="1">
                  <c:v>6590154</c:v>
                </c:pt>
                <c:pt idx="2">
                  <c:v>456628</c:v>
                </c:pt>
                <c:pt idx="3">
                  <c:v>3796017</c:v>
                </c:pt>
                <c:pt idx="4">
                  <c:v>869881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308-4F46-9045-F09E88FF3EC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7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400">
              <a:solidFill>
                <a:srgbClr val="1A1A1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5E2-4091-B77D-141A3631E028}"/>
              </c:ext>
            </c:extLst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5E2-4091-B77D-141A3631E028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600" b="0" i="0" u="none" strike="noStrike">
                      <a:solidFill>
                        <a:srgbClr val="1A1A1A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5E2-4091-B77D-141A3631E028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600" b="0" i="0" u="none" strike="noStrike">
                      <a:solidFill>
                        <a:srgbClr val="1A1A1A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5E2-4091-B77D-141A3631E02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Optimized Cost (66.7%)</c:v>
                </c:pt>
                <c:pt idx="1">
                  <c:v>Savings (33.3%)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159.60499999999999</c:v>
                </c:pt>
                <c:pt idx="1">
                  <c:v>79.802499999999995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5E2-4091-B77D-141A3631E0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1A1A1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Savings (Rs.)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Fan</c:v>
                </c:pt>
                <c:pt idx="1">
                  <c:v>Refrigerator</c:v>
                </c:pt>
                <c:pt idx="2">
                  <c:v>AC</c:v>
                </c:pt>
                <c:pt idx="3">
                  <c:v>Television</c:v>
                </c:pt>
                <c:pt idx="4">
                  <c:v>Monitor</c:v>
                </c:pt>
              </c:strCache>
            </c:strRef>
          </c:cat>
          <c:val>
            <c:numRef>
              <c:f>Sheet1!$B$2:$B$6</c:f>
              <c:numCache>
                <c:formatCode>#,##0</c:formatCode>
                <c:ptCount val="5"/>
                <c:pt idx="0">
                  <c:v>2123909</c:v>
                </c:pt>
                <c:pt idx="1">
                  <c:v>3295077</c:v>
                </c:pt>
                <c:pt idx="2">
                  <c:v>228314</c:v>
                </c:pt>
                <c:pt idx="3">
                  <c:v>1898009</c:v>
                </c:pt>
                <c:pt idx="4">
                  <c:v>434940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61C-4476-BC02-3BB23FCAD7A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3375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4500" cy="13716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17780000" y="6350000"/>
            <a:ext cx="4826000" cy="4826000"/>
          </a:xfrm>
          <a:prstGeom prst="ellipse">
            <a:avLst/>
          </a:prstGeom>
          <a:solidFill>
            <a:srgbClr val="10B981">
              <a:alpha val="9412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9685000" y="8255000"/>
            <a:ext cx="3302000" cy="3302000"/>
          </a:xfrm>
          <a:prstGeom prst="ellipse">
            <a:avLst/>
          </a:prstGeom>
          <a:solidFill>
            <a:srgbClr val="1A1A1A">
              <a:alpha val="7059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6510000" y="9525000"/>
            <a:ext cx="6350000" cy="38100"/>
          </a:xfrm>
          <a:prstGeom prst="rect">
            <a:avLst/>
          </a:prstGeom>
          <a:solidFill>
            <a:srgbClr val="10B981">
              <a:alpha val="25098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5240000" y="7620000"/>
            <a:ext cx="38100" cy="3810000"/>
          </a:xfrm>
          <a:prstGeom prst="rect">
            <a:avLst/>
          </a:prstGeom>
          <a:solidFill>
            <a:srgbClr val="1A1A1A">
              <a:alpha val="12549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1778000"/>
            <a:ext cx="2540000" cy="1016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1778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27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ISI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9443700" y="1346200"/>
            <a:ext cx="3683000" cy="2616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00000"/>
              </a:lnSpc>
            </a:pPr>
            <a:r>
              <a:rPr lang="en-US" sz="160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5080000"/>
            <a:ext cx="22352000" cy="254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80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Electricity Bill Minimization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6000" y="7874000"/>
            <a:ext cx="22352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40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via Linear Programming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16000" y="9144000"/>
            <a:ext cx="2235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Indian Statistical Institute, Kolkata | BSDS | April 2026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6000" y="9906000"/>
            <a:ext cx="2235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Ankesh Raj Aniket (BSDCC2502) · Md Danish (BSDCC2510) · Dunga Pardha Saradhi (BSDCC2506)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16000" y="10541000"/>
            <a:ext cx="2235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Course Instructor: Kaushik Jana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6000" y="12954000"/>
            <a:ext cx="2235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ISI KOLKATA | BSDS | Optimization Using Numerical Methods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4500" cy="13716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20320000" y="10160000"/>
            <a:ext cx="3175000" cy="3175000"/>
          </a:xfrm>
          <a:prstGeom prst="ellipse">
            <a:avLst/>
          </a:prstGeom>
          <a:solidFill>
            <a:srgbClr val="10B981">
              <a:alpha val="6275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508000"/>
            <a:ext cx="152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Table of Contents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16000" y="1460500"/>
            <a:ext cx="1524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Electricity Bill Minimization via LP | ISI Kolkata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16000" y="2032000"/>
            <a:ext cx="15240000" cy="25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54000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032000" y="2540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Abstract &amp; Overview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032000" y="3048000"/>
            <a:ext cx="889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Research context and key findings at a glance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700000" y="254000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0" y="2540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&amp; Numerical Analysis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0" y="3048000"/>
            <a:ext cx="889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 breakdown, charts, appliance-level data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6000" y="431800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032000" y="4318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Research Problem &amp; Dataset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032000" y="4826000"/>
            <a:ext cx="889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formulation, data source, variables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700000" y="431800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0" y="4318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Stochastic, Limitations &amp; Future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0" y="4826000"/>
            <a:ext cx="889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 tariff model, robustness, scope, next steps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16000" y="609600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032000" y="6096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Methodology &amp; Formulation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032000" y="6604000"/>
            <a:ext cx="889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LP framework, steps, R implementation, KKT proof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700000" y="609600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0" y="6096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716000" y="6604000"/>
            <a:ext cx="889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takeaways and final summary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485900" y="8255000"/>
            <a:ext cx="11049000" cy="25400"/>
          </a:xfrm>
          <a:prstGeom prst="rect">
            <a:avLst/>
          </a:prstGeom>
          <a:solidFill>
            <a:srgbClr val="10B981">
              <a:alpha val="18824"/>
            </a:srgbClr>
          </a:solidFill>
          <a:ln/>
        </p:spPr>
      </p:sp>
      <p:sp>
        <p:nvSpPr>
          <p:cNvPr id="26" name="Text 24"/>
          <p:cNvSpPr/>
          <p:nvPr/>
        </p:nvSpPr>
        <p:spPr>
          <a:xfrm rot="-5400000">
            <a:off x="20828000" y="114300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600" kern="0" spc="1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ELEC BILL MINIMIZATION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4500" cy="13716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19685000" y="7620000"/>
            <a:ext cx="3810000" cy="3810000"/>
          </a:xfrm>
          <a:prstGeom prst="ellipse">
            <a:avLst/>
          </a:prstGeom>
          <a:solidFill>
            <a:srgbClr val="10B981">
              <a:alpha val="6275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485900" y="5080000"/>
            <a:ext cx="11049000" cy="25400"/>
          </a:xfrm>
          <a:prstGeom prst="rect">
            <a:avLst/>
          </a:prstGeom>
          <a:solidFill>
            <a:srgbClr val="10B981">
              <a:alpha val="18824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508000"/>
            <a:ext cx="152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Abstract &amp; Overview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0" y="1460500"/>
            <a:ext cx="1524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Summary of the Problem, Method, and Findings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16000" y="2032000"/>
            <a:ext cx="15240000" cy="25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2413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Abstract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3048000"/>
            <a:ext cx="11430000" cy="6035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</a:t>
            </a:r>
            <a:r>
              <a:rPr lang="en-US" sz="2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 report formulates the household electricity bill minimisation problem as a </a:t>
            </a:r>
            <a:r>
              <a:rPr lang="en-US" sz="28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Linear Programme (LP)</a:t>
            </a:r>
            <a:r>
              <a:rPr lang="en-US" sz="2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under a two-period peak/off-peak tariff structure.</a:t>
            </a:r>
            <a:endParaRPr lang="en-US" sz="2400" dirty="0"/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Appliance-level annual demands are computed from a Kaggle dataset of </a:t>
            </a:r>
            <a:r>
              <a:rPr lang="en-US" sz="28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45,345 household-month observations</a:t>
            </a:r>
            <a:r>
              <a:rPr lang="en-US" sz="2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across 6 appliances and 12 calendar months.</a:t>
            </a:r>
            <a:endParaRPr lang="en-US" sz="2400" dirty="0"/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Using an average observed tariff </a:t>
            </a:r>
            <a:r>
              <a:rPr lang="en-US" sz="28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c̄ = 8.3696 Rs./kWh</a:t>
            </a:r>
            <a:r>
              <a:rPr lang="en-US" sz="2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peak (1.2c̄) and off-peak (0.8c̄) rates are constructed. The LP is solved in R using lpSolve.</a:t>
            </a:r>
            <a:endParaRPr lang="en-US" sz="2400" dirty="0"/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prove analytically via </a:t>
            </a:r>
            <a:r>
              <a:rPr lang="en-US" sz="28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KKT conditions</a:t>
            </a:r>
            <a:r>
              <a:rPr lang="en-US" sz="2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the unique optimal solution satisfies x*</a:t>
            </a:r>
            <a:r>
              <a:rPr lang="en-US" sz="2800" baseline="-40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</a:t>
            </a:r>
            <a:r>
              <a:rPr lang="en-US" sz="2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R</a:t>
            </a:r>
            <a:r>
              <a:rPr lang="en-US" sz="2800" baseline="-40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</a:t>
            </a:r>
            <a:r>
              <a:rPr lang="en-US" sz="2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all appliances, guaranteeing savings of exactly </a:t>
            </a:r>
            <a:r>
              <a:rPr lang="en-US" sz="28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1/3 ≈ 33.3%</a:t>
            </a:r>
            <a:r>
              <a:rPr lang="en-US" sz="2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the baseline cost.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3335000" y="2413000"/>
            <a:ext cx="10033000" cy="1270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13335000" y="2476500"/>
            <a:ext cx="10033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45,345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335000" y="3238500"/>
            <a:ext cx="1003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Household-Month Observations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3335000" y="3937000"/>
            <a:ext cx="10033000" cy="1270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13335000" y="4000500"/>
            <a:ext cx="10033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335000" y="4762500"/>
            <a:ext cx="1003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Appliances Analyzed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3335000" y="5461000"/>
            <a:ext cx="10033000" cy="1270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13335000" y="5524500"/>
            <a:ext cx="10033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33.3%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335000" y="6286500"/>
            <a:ext cx="1003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Guaranteed Savings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3335000" y="6985000"/>
            <a:ext cx="10033000" cy="1270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13335000" y="7048500"/>
            <a:ext cx="10033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Rs. 3.35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335000" y="7810500"/>
            <a:ext cx="1003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Savings Efficiency per kWh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 rot="-5400000">
            <a:off x="20828000" y="114300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600" kern="0" spc="1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ELEC BILL MINIMIZATION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B9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2084" y="-16042"/>
            <a:ext cx="24384000" cy="13716000"/>
          </a:xfrm>
          <a:prstGeom prst="rect">
            <a:avLst/>
          </a:prstGeom>
          <a:gradFill flip="none" rotWithShape="1">
            <a:gsLst>
              <a:gs pos="0">
                <a:srgbClr val="10B981">
                  <a:alpha val="0"/>
                </a:srgbClr>
              </a:gs>
              <a:gs pos="100000">
                <a:srgbClr val="1A1A1A">
                  <a:alpha val="19000"/>
                </a:srgbClr>
              </a:gs>
            </a:gsLst>
            <a:lin ang="81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19050000" y="1270000"/>
            <a:ext cx="4445000" cy="4445000"/>
          </a:xfrm>
          <a:prstGeom prst="ellipse">
            <a:avLst/>
          </a:prstGeom>
          <a:solidFill>
            <a:srgbClr val="FFFFFF">
              <a:alpha val="6275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8890000"/>
            <a:ext cx="3175000" cy="3175000"/>
          </a:xfrm>
          <a:prstGeom prst="ellipse">
            <a:avLst/>
          </a:prstGeom>
          <a:solidFill>
            <a:srgbClr val="FFFFFF">
              <a:alpha val="3137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080000" y="7112000"/>
            <a:ext cx="14224000" cy="38100"/>
          </a:xfrm>
          <a:prstGeom prst="rect">
            <a:avLst/>
          </a:prstGeom>
          <a:solidFill>
            <a:srgbClr val="FFFFFF">
              <a:alpha val="18824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508000"/>
            <a:ext cx="22352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 Problem &amp; Question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1460500"/>
            <a:ext cx="2235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does timing of electricity usage matter?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016000" y="2032000"/>
            <a:ext cx="22352000" cy="25400"/>
          </a:xfrm>
          <a:prstGeom prst="rect">
            <a:avLst/>
          </a:prstGeom>
          <a:solidFill>
            <a:srgbClr val="FFFFFF">
              <a:alpha val="18824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16000" y="2540000"/>
            <a:ext cx="10541000" cy="355600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0" name="Text 8"/>
          <p:cNvSpPr/>
          <p:nvPr/>
        </p:nvSpPr>
        <p:spPr>
          <a:xfrm>
            <a:off x="1270000" y="2667000"/>
            <a:ext cx="10033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PEAK HOURS (18:00 – 22:00)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70000" y="3302000"/>
            <a:ext cx="10033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aggregate demand → elevated unit rates</a:t>
            </a:r>
            <a:endParaRPr lang="en-US" sz="2000" dirty="0"/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Peak Tariff: </a:t>
            </a:r>
            <a:r>
              <a:rPr lang="en-US" sz="2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c⁽ᵖ⁾ = 1.2c̄ = Rs. 10.04 / kWh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2065000" y="2540000"/>
            <a:ext cx="10541000" cy="35560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12319000" y="2667000"/>
            <a:ext cx="10033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OFF-PEAK HOURS (23:00 – 06:00)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19000" y="3302000"/>
            <a:ext cx="10033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</a:t>
            </a: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rid lightly loaded → lower unit rates</a:t>
            </a:r>
            <a:endParaRPr lang="en-US" sz="2000" dirty="0"/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Off-Peak Tariff: </a:t>
            </a:r>
            <a:r>
              <a:rPr lang="en-US" sz="2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c⁽ᵒ⁾ = 0.8c̄ = Rs. 6.70 / kWh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1303000" y="3937000"/>
            <a:ext cx="1016000" cy="762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6" name="Text 14"/>
          <p:cNvSpPr/>
          <p:nvPr/>
        </p:nvSpPr>
        <p:spPr>
          <a:xfrm>
            <a:off x="11303000" y="39370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16000" y="6477000"/>
            <a:ext cx="21590000" cy="1524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1270000" y="6604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Research Question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70000" y="7048500"/>
            <a:ext cx="2108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 how much can the annual electricity bill of a household be reduced if appliance usage is optimally reallocated from peak-hour to off-peak-hour tariff windows using linear programming — and what is the per-unit savings efficiency of this reallocation?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016000" y="8382000"/>
            <a:ext cx="21590000" cy="1524000"/>
          </a:xfrm>
          <a:prstGeom prst="rect">
            <a:avLst/>
          </a:prstGeom>
          <a:solidFill>
            <a:srgbClr val="FEF3C7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17625" y="8572500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217959" y="285750"/>
                </a:moveTo>
                <a:cubicBezTo>
                  <a:pt x="223391" y="269156"/>
                  <a:pt x="234255" y="254124"/>
                  <a:pt x="246534" y="241176"/>
                </a:cubicBezTo>
                <a:cubicBezTo>
                  <a:pt x="270867" y="215578"/>
                  <a:pt x="285750" y="180975"/>
                  <a:pt x="285750" y="142875"/>
                </a:cubicBezTo>
                <a:cubicBezTo>
                  <a:pt x="285750" y="63996"/>
                  <a:pt x="221754" y="0"/>
                  <a:pt x="142875" y="0"/>
                </a:cubicBezTo>
                <a:cubicBezTo>
                  <a:pt x="63996" y="0"/>
                  <a:pt x="0" y="63996"/>
                  <a:pt x="0" y="142875"/>
                </a:cubicBezTo>
                <a:cubicBezTo>
                  <a:pt x="0" y="180975"/>
                  <a:pt x="14883" y="215578"/>
                  <a:pt x="39216" y="241176"/>
                </a:cubicBezTo>
                <a:cubicBezTo>
                  <a:pt x="51495" y="254124"/>
                  <a:pt x="62433" y="269156"/>
                  <a:pt x="67791" y="285750"/>
                </a:cubicBezTo>
                <a:lnTo>
                  <a:pt x="217884" y="285750"/>
                </a:lnTo>
                <a:close/>
                <a:moveTo>
                  <a:pt x="214313" y="321469"/>
                </a:moveTo>
                <a:lnTo>
                  <a:pt x="71438" y="321469"/>
                </a:lnTo>
                <a:lnTo>
                  <a:pt x="71438" y="333375"/>
                </a:lnTo>
                <a:cubicBezTo>
                  <a:pt x="71438" y="366266"/>
                  <a:pt x="98078" y="392906"/>
                  <a:pt x="130969" y="392906"/>
                </a:cubicBezTo>
                <a:lnTo>
                  <a:pt x="154781" y="392906"/>
                </a:lnTo>
                <a:cubicBezTo>
                  <a:pt x="187672" y="392906"/>
                  <a:pt x="214313" y="366266"/>
                  <a:pt x="214313" y="333375"/>
                </a:cubicBezTo>
                <a:lnTo>
                  <a:pt x="214313" y="321469"/>
                </a:lnTo>
                <a:close/>
                <a:moveTo>
                  <a:pt x="136922" y="83344"/>
                </a:moveTo>
                <a:cubicBezTo>
                  <a:pt x="107305" y="83344"/>
                  <a:pt x="83344" y="107305"/>
                  <a:pt x="83344" y="136922"/>
                </a:cubicBezTo>
                <a:cubicBezTo>
                  <a:pt x="83344" y="146819"/>
                  <a:pt x="75381" y="154781"/>
                  <a:pt x="65484" y="154781"/>
                </a:cubicBezTo>
                <a:cubicBezTo>
                  <a:pt x="55587" y="154781"/>
                  <a:pt x="47625" y="146819"/>
                  <a:pt x="47625" y="136922"/>
                </a:cubicBezTo>
                <a:cubicBezTo>
                  <a:pt x="47625" y="87585"/>
                  <a:pt x="87585" y="47625"/>
                  <a:pt x="136922" y="47625"/>
                </a:cubicBezTo>
                <a:cubicBezTo>
                  <a:pt x="146819" y="47625"/>
                  <a:pt x="154781" y="55587"/>
                  <a:pt x="154781" y="65484"/>
                </a:cubicBezTo>
                <a:cubicBezTo>
                  <a:pt x="154781" y="75381"/>
                  <a:pt x="146819" y="83344"/>
                  <a:pt x="136922" y="83344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1841500" y="8509000"/>
            <a:ext cx="205105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92400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</a:t>
            </a:r>
            <a:r>
              <a:rPr lang="en-US" sz="2400" b="1" dirty="0">
                <a:solidFill>
                  <a:srgbClr val="92400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ey Insight:</a:t>
            </a:r>
            <a:r>
              <a:rPr lang="en-US" sz="2400" dirty="0">
                <a:solidFill>
                  <a:srgbClr val="92400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Time-flexible appliances (Fan, TV, Motor Pump) can be rescheduled to off-peak windows without sacrificing comfort or service quality — creating a structured resource allocation problem that is solvable by Linear Programming.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 rot="-5400000">
            <a:off x="20828000" y="114300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6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ELEC BILL MINIMIZATION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4500" cy="13716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20320000" y="1270000"/>
            <a:ext cx="3175000" cy="3175000"/>
          </a:xfrm>
          <a:prstGeom prst="ellipse">
            <a:avLst/>
          </a:prstGeom>
          <a:solidFill>
            <a:srgbClr val="10B981">
              <a:alpha val="6275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508000"/>
            <a:ext cx="152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 &amp; Variables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16000" y="1460500"/>
            <a:ext cx="1524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Kaggle Dataset | 45,345 household-month records | Multiple Indian Cities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16000" y="2032000"/>
            <a:ext cx="22352000" cy="25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1016000" y="2349500"/>
            <a:ext cx="5080000" cy="1143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2413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45,345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31115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Records (n)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77000" y="2349500"/>
            <a:ext cx="5080000" cy="1143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6477000" y="2413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77000" y="31115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Variables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1938000" y="2349500"/>
            <a:ext cx="5080000" cy="1143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11938000" y="2413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938000" y="31115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7399000" y="2349500"/>
            <a:ext cx="5080000" cy="1143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17399000" y="2413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7399000" y="31115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Cities</a:t>
            </a:r>
            <a:endParaRPr lang="en-US" sz="1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6000" y="3810000"/>
          <a:ext cx="22352000" cy="5943600"/>
        </p:xfrm>
        <a:graphic>
          <a:graphicData uri="http://schemas.openxmlformats.org/drawingml/2006/table">
            <a:tbl>
              <a:tblPr/>
              <a:tblGrid>
                <a:gridCol w="33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8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129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8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Variable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Type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Unit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Annual Demand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Share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Flexibility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Description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Fan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Numeric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kWh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6,34,408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27%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Flexible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Ceiling fan usage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Refrigerator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Numeric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kWh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9,84,234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41%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Continuous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24/7 operation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Air Conditioner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Numeric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kWh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68,197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3%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Part. Flexible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Seasonal usage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Television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Numeric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kWh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5,66,932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24%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Flexible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Entertainment device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Monitor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Numeric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kWh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1,29,916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5%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Flexible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Computer display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Motor Pump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Numeric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kWh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0%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Schedulable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Water pump (no data)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TariffRate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Numeric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Rs./kWh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Unit electricity cost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ElectricityBill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Numeric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Rs.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Monthly bill amount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1016000" y="10668000"/>
            <a:ext cx="2235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b="1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Cleaning: No missing values. MotorPump column = 0 throughout (retained). Outliers verified. Tariff constructed as c⁽ᵖ⁾ = 1.2c̄ and c⁽ᵒ⁾ = 0.8c̄ where c̄ = 8.3696 Rs./kWh.</a:t>
            </a:r>
            <a:endParaRPr lang="en-US" sz="2000" b="1" dirty="0"/>
          </a:p>
        </p:txBody>
      </p:sp>
      <p:sp>
        <p:nvSpPr>
          <p:cNvPr id="21" name="Text 18"/>
          <p:cNvSpPr/>
          <p:nvPr/>
        </p:nvSpPr>
        <p:spPr>
          <a:xfrm rot="-5400000">
            <a:off x="20828000" y="114300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600" kern="0" spc="1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ELEC BILL MINIMIZATION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4500" cy="13716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20320000" y="10160000"/>
            <a:ext cx="3175000" cy="3175000"/>
          </a:xfrm>
          <a:prstGeom prst="ellipse">
            <a:avLst/>
          </a:prstGeom>
          <a:solidFill>
            <a:srgbClr val="10B981">
              <a:alpha val="6275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508000"/>
            <a:ext cx="152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Descriptive Statistics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16000" y="1460500"/>
            <a:ext cx="1524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Summary of key variables and annual energy demand by appliance (n = 45,345)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16000" y="2032000"/>
            <a:ext cx="15240000" cy="25400"/>
          </a:xfrm>
          <a:prstGeom prst="rect">
            <a:avLst/>
          </a:prstGeom>
          <a:solidFill>
            <a:srgbClr val="E2E8F0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6000" y="2286000"/>
          <a:ext cx="11430000" cy="53340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Variable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Mean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Min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Median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Max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Fan (kWh)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13.99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5.47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5.0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14.0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23.0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Refrigerator (kWh)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21.71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1.67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17.0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22.0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23.0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AC (kWh)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1.50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2.50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1.0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23.0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Television (kWh)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12.50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6.77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14.0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23.0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Monitor (kWh)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2.86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3.00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2.0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23.0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TariffRate (Rs/kWh)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8.37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0.58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7.40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8.40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9.30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Bill (Rs.)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4,311.8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1,073.9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807.5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4,299.4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8,286.3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016000" y="7874000"/>
            <a:ext cx="1143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b="1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Note: Refrigerator has the highest mean usage (21.71 kWh/month) and dominates annual demand. AC and Monitor show many zero-usage months (high variability).</a:t>
            </a:r>
            <a:endParaRPr lang="en-US" sz="2000" b="1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13335000" y="2286000"/>
          <a:ext cx="10033000" cy="660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6"/>
          <p:cNvSpPr/>
          <p:nvPr/>
        </p:nvSpPr>
        <p:spPr>
          <a:xfrm rot="-5400000">
            <a:off x="20828000" y="114300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600" kern="0" spc="1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ELEC BILL MINIMIZATION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B9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042" y="0"/>
            <a:ext cx="24384000" cy="13716000"/>
          </a:xfrm>
          <a:prstGeom prst="rect">
            <a:avLst/>
          </a:prstGeom>
          <a:gradFill flip="none" rotWithShape="1">
            <a:gsLst>
              <a:gs pos="0">
                <a:srgbClr val="10B981">
                  <a:alpha val="0"/>
                </a:srgbClr>
              </a:gs>
              <a:gs pos="100000">
                <a:srgbClr val="1A1A1A">
                  <a:alpha val="15000"/>
                </a:srgbClr>
              </a:gs>
            </a:gsLst>
            <a:lin ang="13500000" scaled="1"/>
          </a:gra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19685000" y="8890000"/>
            <a:ext cx="3810000" cy="3810000"/>
          </a:xfrm>
          <a:prstGeom prst="ellipse">
            <a:avLst/>
          </a:prstGeom>
          <a:solidFill>
            <a:srgbClr val="FFFFFF">
              <a:alpha val="6275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35000" y="635000"/>
            <a:ext cx="2540000" cy="2540000"/>
          </a:xfrm>
          <a:prstGeom prst="ellipse">
            <a:avLst/>
          </a:prstGeom>
          <a:solidFill>
            <a:srgbClr val="FFFFFF">
              <a:alpha val="3137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590800" y="5969000"/>
            <a:ext cx="19202400" cy="38100"/>
          </a:xfrm>
          <a:prstGeom prst="rect">
            <a:avLst/>
          </a:prstGeom>
          <a:solidFill>
            <a:srgbClr val="FFFFFF">
              <a:alpha val="18824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508000"/>
            <a:ext cx="22352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1460500"/>
            <a:ext cx="2235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Linear Programming framework — solved in R using lpSolve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16000" y="2032000"/>
            <a:ext cx="22352000" cy="25400"/>
          </a:xfrm>
          <a:prstGeom prst="rect">
            <a:avLst/>
          </a:prstGeom>
          <a:solidFill>
            <a:srgbClr val="FFFFFF">
              <a:alpha val="18824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2794000"/>
            <a:ext cx="8890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8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5-Step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LP Framework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795000" y="2540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chemeClr val="accent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>
              <a:solidFill>
                <a:schemeClr val="accent4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11938000" y="2540000"/>
            <a:ext cx="1143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u="sng" dirty="0">
                <a:solidFill>
                  <a:schemeClr val="accent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Define Appliances</a:t>
            </a:r>
            <a:endParaRPr lang="en-US" u="sng" dirty="0">
              <a:solidFill>
                <a:schemeClr val="accent4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938000" y="2984500"/>
            <a:ext cx="1143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Identify 6 appliances: Fan, Refrigerator, AC, TV, Monitor, Motor Pump. Each characterized by annual energy demand Rᵢ (kWh) from dataset</a:t>
            </a: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795000" y="4064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chemeClr val="accent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>
              <a:solidFill>
                <a:schemeClr val="accent4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938000" y="4064000"/>
            <a:ext cx="1143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u="sng" dirty="0">
                <a:solidFill>
                  <a:schemeClr val="accent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Compute Demands</a:t>
            </a:r>
            <a:endParaRPr lang="en-US" u="sng" dirty="0">
              <a:solidFill>
                <a:schemeClr val="accent4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938000" y="4572000"/>
            <a:ext cx="1143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Aggregate 45,345 records by appliance across all 12 months. Total demand D = ΣRᵢ = 23,83,687 kWh</a:t>
            </a: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795000" y="5588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chemeClr val="accent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>
              <a:solidFill>
                <a:schemeClr val="accent4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938000" y="5588000"/>
            <a:ext cx="1143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u="sng" dirty="0">
                <a:solidFill>
                  <a:schemeClr val="accent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 Tariff Rates</a:t>
            </a:r>
            <a:endParaRPr lang="en-US" u="sng" dirty="0">
              <a:solidFill>
                <a:schemeClr val="accent4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938000" y="6096000"/>
            <a:ext cx="1143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Average tariff c̄ = 8.3696 Rs./kWh. Peak: c⁽ᵖ⁾ = 1.2c̄ = 10.04, Off-peak: c⁽ᵒ⁾ = 0.8c̄ = 6.70 Rs./kWh</a:t>
            </a: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0795000" y="7112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chemeClr val="accent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>
              <a:solidFill>
                <a:schemeClr val="accent4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11938000" y="7112000"/>
            <a:ext cx="1143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u="sng" dirty="0">
                <a:solidFill>
                  <a:schemeClr val="accent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Formulate LP</a:t>
            </a:r>
            <a:endParaRPr lang="en-US" u="sng" dirty="0">
              <a:solidFill>
                <a:schemeClr val="accent4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11938000" y="7620000"/>
            <a:ext cx="1143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Objective: minimize Σ c⁽ᵒ⁾·xᵢ. Constraints: xᵢ ≥ Rᵢ (demand) and xᵢ ≥ 0 (non-negativity) for all i.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0795000" y="8636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chemeClr val="accent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>
              <a:solidFill>
                <a:schemeClr val="accent4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11938000" y="8636000"/>
            <a:ext cx="1143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chemeClr val="accent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Solve &amp; Verify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11938000" y="9144000"/>
            <a:ext cx="1143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 + lpSolve package solves the LP. KKT conditions analytically confirm the unique optimal solution x*ᵢ = Rᵢ.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 rot="-5400000">
            <a:off x="20828000" y="114300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6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ELEC BILL MINIMIZATION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4500" cy="13716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20320000" y="1270000"/>
            <a:ext cx="3175000" cy="3175000"/>
          </a:xfrm>
          <a:prstGeom prst="ellipse">
            <a:avLst/>
          </a:prstGeom>
          <a:solidFill>
            <a:srgbClr val="10B981">
              <a:alpha val="6275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485900" y="5842000"/>
            <a:ext cx="11214100" cy="25400"/>
          </a:xfrm>
          <a:prstGeom prst="rect">
            <a:avLst/>
          </a:prstGeom>
          <a:solidFill>
            <a:srgbClr val="10B981">
              <a:alpha val="1451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508000"/>
            <a:ext cx="152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Mathematical Formulation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0" y="1460500"/>
            <a:ext cx="1524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Decision variables, LP structure, and convexity of the feasible set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16000" y="2032000"/>
            <a:ext cx="22352000" cy="25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6"/>
          <p:cNvSpPr/>
          <p:nvPr/>
        </p:nvSpPr>
        <p:spPr>
          <a:xfrm>
            <a:off x="1016000" y="2349500"/>
            <a:ext cx="10795000" cy="355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6000" y="2349500"/>
            <a:ext cx="10795000" cy="50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349500"/>
            <a:ext cx="10541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Decision Variables &amp; Parameters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43000" y="2984500"/>
            <a:ext cx="10541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xᵢ</a:t>
            </a:r>
            <a:r>
              <a:rPr lang="en-US" sz="2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Off-peak energy allocated to appliance i (kWh)</a:t>
            </a:r>
            <a:endParaRPr lang="en-US" sz="2800" dirty="0"/>
          </a:p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Rᵢ</a:t>
            </a:r>
            <a:r>
              <a:rPr lang="en-US" sz="2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Total annual energy requirement of appliance i (kWh)</a:t>
            </a:r>
            <a:endParaRPr lang="en-US" sz="2800" dirty="0"/>
          </a:p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c⁽ᵖ⁾</a:t>
            </a:r>
            <a:r>
              <a:rPr lang="en-US" sz="2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Peak-hour unit tariff = 1.2c̄ = Rs. 10.04/kWh</a:t>
            </a:r>
            <a:endParaRPr lang="en-US" sz="2800" dirty="0"/>
          </a:p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c⁽ᵒ⁾</a:t>
            </a:r>
            <a:r>
              <a:rPr lang="en-US" sz="2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Off-peak unit tariff = 0.8c̄ = Rs. 6.70/kWh</a:t>
            </a:r>
            <a:endParaRPr lang="en-US" sz="2800" dirty="0"/>
          </a:p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c̄</a:t>
            </a:r>
            <a:r>
              <a:rPr lang="en-US" sz="2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Sample mean tariff = 8.3696 Rs./kWh</a:t>
            </a:r>
            <a:endParaRPr lang="en-US" sz="2800" dirty="0"/>
          </a:p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</a:t>
            </a:r>
            <a:r>
              <a:rPr lang="en-US" sz="2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Σᵢ Rᵢ = 23,83,687 kWh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12319000" y="2349500"/>
            <a:ext cx="11049000" cy="355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319000" y="2349500"/>
            <a:ext cx="11049000" cy="50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12446000" y="2349500"/>
            <a:ext cx="1079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Linear Programme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446000" y="2984500"/>
            <a:ext cx="10795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</a:t>
            </a:r>
            <a:r>
              <a:rPr lang="en-US" sz="3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Z(x) = Σᵢ c⁽ᵒ⁾ · xᵢ = 0.8c̄ · Σxᵢ</a:t>
            </a:r>
            <a:endParaRPr lang="en-US" sz="2800" dirty="0"/>
          </a:p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subject to:</a:t>
            </a:r>
            <a:endParaRPr lang="en-US" sz="2800" dirty="0"/>
          </a:p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(C1) xᵢ ≥ Rᵢ ∀ i ∈ I ← demand must be met</a:t>
            </a:r>
            <a:endParaRPr lang="en-US" sz="2800" dirty="0"/>
          </a:p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(C2) xᵢ ≥ 0 ∀ i ∈ I ← non-negativity</a:t>
            </a:r>
            <a:endParaRPr lang="en-US" sz="2800" dirty="0"/>
          </a:p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 = Σᵢ Rᵢ = 23,83,687 kWh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1016000" y="6223000"/>
            <a:ext cx="22352000" cy="228600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16000" y="6223000"/>
            <a:ext cx="22352000" cy="50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6223000"/>
            <a:ext cx="2209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Convexity Proof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143000" y="6858000"/>
            <a:ext cx="2209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feasible set F = {x ∈ ℝⁿ : xᵢ ≥ Rᵢ, xᵢ ≥ 0, ∀i} is the intersection of 2n closed half-spaces → a closed convex polyhedron. The objective Z(x) = c⁽ᵒ⁾1ᵀx is affine (both convex and concave). Therefore the LP is a convex programme: any local minimum is also a global minimum, and the minimum is attained at a vertex of F.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1016000" y="8890000"/>
            <a:ext cx="22352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3000" y="8890000"/>
            <a:ext cx="2209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Matrix form:</a:t>
            </a:r>
            <a:r>
              <a:rPr lang="en-US" sz="3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min (c⁽ᵒ⁾)ᵀ x s.t. Iₙ x ≥ R, x ≥ 0 where R = (R₁, ..., Rₙ)ᵀ and Iₙ is the n×n identity matrix.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 rot="-5400000">
            <a:off x="20828000" y="114300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600" kern="0" spc="1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ELEC BILL MINIMIZATION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4500" cy="13716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20320000" y="10160000"/>
            <a:ext cx="3175000" cy="3175000"/>
          </a:xfrm>
          <a:prstGeom prst="ellipse">
            <a:avLst/>
          </a:prstGeom>
          <a:solidFill>
            <a:srgbClr val="10B981">
              <a:alpha val="6275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2319000" y="1778000"/>
            <a:ext cx="25400" cy="10414000"/>
          </a:xfrm>
          <a:prstGeom prst="rect">
            <a:avLst/>
          </a:prstGeom>
          <a:solidFill>
            <a:srgbClr val="1A1A1A">
              <a:alpha val="8235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508000"/>
            <a:ext cx="152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KKT Conditions &amp; Analytical Proof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0" y="1460500"/>
            <a:ext cx="1524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Proving the unique optimal solution x*ᵢ = Rᵢ via Karush-Kuhn-Tucker conditions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16000" y="2032000"/>
            <a:ext cx="22352000" cy="25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6"/>
          <p:cNvSpPr/>
          <p:nvPr/>
        </p:nvSpPr>
        <p:spPr>
          <a:xfrm>
            <a:off x="1016000" y="2349500"/>
            <a:ext cx="10795000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6000" y="2349500"/>
            <a:ext cx="10795000" cy="50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349500"/>
            <a:ext cx="10541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1: Lagrangian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2984500"/>
            <a:ext cx="10541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L(x, λ, μ) = c⁽ᵒ⁾Σxᵢ − Σλᵢ(xᵢ − Rᵢ) − Σμᵢxᵢ</a:t>
            </a:r>
            <a:endParaRPr lang="en-US" sz="2400" dirty="0"/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Associate λᵢ ≥ 0 with demand constraint (C1); μᵢ ≥ 0 with non-negativity (C2).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2319000" y="2349500"/>
            <a:ext cx="11049000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319000" y="2349500"/>
            <a:ext cx="11049000" cy="50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12446000" y="2349500"/>
            <a:ext cx="1079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2: Stationarity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446000" y="2984500"/>
            <a:ext cx="10795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∂L/∂xᵢ = c⁽ᵒ⁾ − λᵢ − μᵢ = 0 ⟹ λᵢ + μᵢ = c⁽ᵒ⁾ &gt; 0</a:t>
            </a:r>
            <a:endParaRPr lang="en-US" sz="2800" dirty="0"/>
          </a:p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Since c⁽ᵒ⁾ = 6.70 &gt; 0, the sum λᵢ + μᵢ must equal this positive constant</a:t>
            </a:r>
            <a:r>
              <a:rPr lang="en-US" sz="1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84250" y="5842000"/>
            <a:ext cx="10795000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16000" y="5969000"/>
            <a:ext cx="10795000" cy="50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5969000"/>
            <a:ext cx="10541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3: Compl. Slackness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" y="6604000"/>
            <a:ext cx="10541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λᵢ(xᵢ − Rᵢ) = 0 and μᵢ · xᵢ = 0</a:t>
            </a:r>
            <a:endParaRPr lang="en-US" sz="2400" dirty="0"/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Since Rᵢ &gt; 0, primal feasibility forces xᵢ ≥ Rᵢ &gt; 0, so the second condition gives μᵢ = 0</a:t>
            </a:r>
            <a:r>
              <a:rPr lang="en-US" sz="2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2319000" y="5969000"/>
            <a:ext cx="11049000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319000" y="5969000"/>
            <a:ext cx="11049000" cy="5080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2" name="Text 20"/>
          <p:cNvSpPr/>
          <p:nvPr/>
        </p:nvSpPr>
        <p:spPr>
          <a:xfrm>
            <a:off x="12446000" y="5969000"/>
            <a:ext cx="1079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4: Optimal Solution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446000" y="6604000"/>
            <a:ext cx="10795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μᵢ = 0 ⟹ λᵢ = c⁽ᵒ⁾ &gt; 0 ⟹ xᵢ* = Rᵢ ∀ i ∈ I</a:t>
            </a:r>
            <a:endParaRPr lang="en-US" sz="2400" dirty="0"/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Unique global optimum: shift ALL demand to off-peak. Savings = exactly 1/3 of baseline</a:t>
            </a:r>
            <a:r>
              <a:rPr lang="en-US" sz="2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 rot="-5400000">
            <a:off x="20828000" y="114300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600" kern="0" spc="1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ELEC BILL MINIMIZATION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4500" cy="13716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19685000" y="7620000"/>
            <a:ext cx="3810000" cy="3810000"/>
          </a:xfrm>
          <a:prstGeom prst="ellipse">
            <a:avLst/>
          </a:prstGeom>
          <a:solidFill>
            <a:srgbClr val="10B981">
              <a:alpha val="6275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485900" y="5080000"/>
            <a:ext cx="11049000" cy="25400"/>
          </a:xfrm>
          <a:prstGeom prst="rect">
            <a:avLst/>
          </a:prstGeom>
          <a:solidFill>
            <a:srgbClr val="10B981">
              <a:alpha val="18824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508000"/>
            <a:ext cx="152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Cost Analysis — Before vs After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0" y="1460500"/>
            <a:ext cx="1524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Baseline (peak tariff) vs optimized (off-peak tariff) annual costs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16000" y="2032000"/>
            <a:ext cx="22352000" cy="25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6"/>
          <p:cNvSpPr/>
          <p:nvPr/>
        </p:nvSpPr>
        <p:spPr>
          <a:xfrm>
            <a:off x="1016000" y="2349500"/>
            <a:ext cx="5080000" cy="127000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2413000"/>
            <a:ext cx="508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Rs. 2.39 Cr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3175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Baseline Cost (Peak Tariff)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77000" y="2349500"/>
            <a:ext cx="5080000" cy="12700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2" name="Text 10"/>
          <p:cNvSpPr/>
          <p:nvPr/>
        </p:nvSpPr>
        <p:spPr>
          <a:xfrm>
            <a:off x="6477000" y="2413000"/>
            <a:ext cx="508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Rs. 1.60 Cr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77000" y="3175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Optimized Cost (Off-Peak Tariff)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1938000" y="2349500"/>
            <a:ext cx="5080000" cy="1270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11938000" y="2413000"/>
            <a:ext cx="508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Rs. 79.8 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938000" y="3175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Annual Savings (33.3%)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7399000" y="2349500"/>
            <a:ext cx="5080000" cy="1270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17399000" y="2413000"/>
            <a:ext cx="508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Rs. 3.35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7399000" y="3175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Efficiency (per kWh shifted)</a:t>
            </a:r>
            <a:endParaRPr lang="en-US" sz="16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1016000" y="3937000"/>
          <a:ext cx="13970000" cy="660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Shape 18"/>
          <p:cNvSpPr/>
          <p:nvPr/>
        </p:nvSpPr>
        <p:spPr>
          <a:xfrm>
            <a:off x="15494000" y="3937000"/>
            <a:ext cx="7874000" cy="660400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5494000" y="3937000"/>
            <a:ext cx="7874000" cy="50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0"/>
          <p:cNvSpPr/>
          <p:nvPr/>
        </p:nvSpPr>
        <p:spPr>
          <a:xfrm>
            <a:off x="15621000" y="3937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 Derivation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5621000" y="4572000"/>
            <a:ext cx="7620000" cy="584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 = 23,83,687 kWh</a:t>
            </a:r>
            <a:endParaRPr lang="en-US" sz="2400" dirty="0"/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E53E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Baseline:</a:t>
            </a:r>
            <a:endParaRPr lang="en-US" sz="2400" dirty="0"/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</a:t>
            </a:r>
            <a:r>
              <a:rPr lang="en-US" sz="2800" baseline="-40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before</a:t>
            </a:r>
            <a:r>
              <a:rPr lang="en-US" sz="2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1.2c̄ · D</a:t>
            </a:r>
            <a:endParaRPr lang="en-US" sz="2400" dirty="0"/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= Rs. 2,39,40,746</a:t>
            </a:r>
            <a:endParaRPr lang="en-US" sz="2400" dirty="0"/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Optimized:</a:t>
            </a:r>
            <a:endParaRPr lang="en-US" sz="2400" dirty="0"/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Z* = 0.8c̄ · D</a:t>
            </a:r>
            <a:endParaRPr lang="en-US" sz="2400" dirty="0"/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= Rs. 1,59,60,497</a:t>
            </a:r>
            <a:endParaRPr lang="en-US" sz="2400" dirty="0"/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Savings:</a:t>
            </a:r>
            <a:endParaRPr lang="en-US" sz="2400" dirty="0"/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 = 0.4c̄ · D</a:t>
            </a:r>
            <a:endParaRPr lang="en-US" sz="2400" dirty="0"/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= Rs. 79,80,249</a:t>
            </a:r>
            <a:endParaRPr lang="en-US" sz="2400" dirty="0"/>
          </a:p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S/Z</a:t>
            </a:r>
            <a:r>
              <a:rPr lang="en-US" sz="2800" b="1" baseline="-40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before</a:t>
            </a:r>
            <a:r>
              <a:rPr lang="en-US" sz="28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1 − 0.8/1.2 = 1/3</a:t>
            </a:r>
            <a:endParaRPr lang="en-US" sz="2400" dirty="0"/>
          </a:p>
        </p:txBody>
      </p:sp>
      <p:sp>
        <p:nvSpPr>
          <p:cNvPr id="25" name="Text 22"/>
          <p:cNvSpPr/>
          <p:nvPr/>
        </p:nvSpPr>
        <p:spPr>
          <a:xfrm rot="-5400000">
            <a:off x="20828000" y="114300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600" kern="0" spc="1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ELEC BILL MINIMIZATION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4500" cy="13716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20320000" y="10160000"/>
            <a:ext cx="3175000" cy="3175000"/>
          </a:xfrm>
          <a:prstGeom prst="ellipse">
            <a:avLst/>
          </a:prstGeom>
          <a:solidFill>
            <a:srgbClr val="10B981">
              <a:alpha val="6275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508000"/>
            <a:ext cx="152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Appliance-Level Results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16000" y="1460500"/>
            <a:ext cx="1524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numerical output from lpSolve — all values in Rs.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16000" y="2032000"/>
            <a:ext cx="22352000" cy="25400"/>
          </a:xfrm>
          <a:prstGeom prst="rect">
            <a:avLst/>
          </a:prstGeom>
          <a:solidFill>
            <a:srgbClr val="E2E8F0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6000" y="2349500"/>
          <a:ext cx="22352000" cy="5283200"/>
        </p:xfrm>
        <a:graphic>
          <a:graphicData uri="http://schemas.openxmlformats.org/drawingml/2006/table">
            <a:tbl>
              <a:tblPr/>
              <a:tblGrid>
                <a:gridCol w="3129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29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29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05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822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Appliance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Demand Rᵢ (kWh)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Before (Rs.)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After (Rs.)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Savings (Rs.)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% Saved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Nature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Share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Fan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6,34,408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63,71,726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42,47,817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21,23,909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33.3%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Flexible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27%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Refrigerator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9,84,234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98,85,231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65,90,154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32,95,077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33.3%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Continuous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41%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AC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68,197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6,84,942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4,56,628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2,28,314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33.3%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Part. Flexible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3%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Television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5,66,932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56,94,026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37,96,017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18,98,009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33.3%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Flexible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24%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Monitor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1,29,916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13,04,821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8,69,881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4,34,940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33.3%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Flexible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5%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Motor Pump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Schedulable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0%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TOTAL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23,83,687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2,39,40,746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1,59,60,497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79,80,249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33.3%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1016000" y="9271000"/>
            <a:ext cx="22352000" cy="1524000"/>
          </a:xfrm>
          <a:prstGeom prst="rect">
            <a:avLst/>
          </a:prstGeom>
          <a:solidFill>
            <a:srgbClr val="FEF3C7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317625" y="9461500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217959" y="285750"/>
                </a:moveTo>
                <a:cubicBezTo>
                  <a:pt x="223391" y="269156"/>
                  <a:pt x="234255" y="254124"/>
                  <a:pt x="246534" y="241176"/>
                </a:cubicBezTo>
                <a:cubicBezTo>
                  <a:pt x="270867" y="215578"/>
                  <a:pt x="285750" y="180975"/>
                  <a:pt x="285750" y="142875"/>
                </a:cubicBezTo>
                <a:cubicBezTo>
                  <a:pt x="285750" y="63996"/>
                  <a:pt x="221754" y="0"/>
                  <a:pt x="142875" y="0"/>
                </a:cubicBezTo>
                <a:cubicBezTo>
                  <a:pt x="63996" y="0"/>
                  <a:pt x="0" y="63996"/>
                  <a:pt x="0" y="142875"/>
                </a:cubicBezTo>
                <a:cubicBezTo>
                  <a:pt x="0" y="180975"/>
                  <a:pt x="14883" y="215578"/>
                  <a:pt x="39216" y="241176"/>
                </a:cubicBezTo>
                <a:cubicBezTo>
                  <a:pt x="51495" y="254124"/>
                  <a:pt x="62433" y="269156"/>
                  <a:pt x="67791" y="285750"/>
                </a:cubicBezTo>
                <a:lnTo>
                  <a:pt x="217884" y="285750"/>
                </a:lnTo>
                <a:close/>
                <a:moveTo>
                  <a:pt x="214313" y="321469"/>
                </a:moveTo>
                <a:lnTo>
                  <a:pt x="71438" y="321469"/>
                </a:lnTo>
                <a:lnTo>
                  <a:pt x="71438" y="333375"/>
                </a:lnTo>
                <a:cubicBezTo>
                  <a:pt x="71438" y="366266"/>
                  <a:pt x="98078" y="392906"/>
                  <a:pt x="130969" y="392906"/>
                </a:cubicBezTo>
                <a:lnTo>
                  <a:pt x="154781" y="392906"/>
                </a:lnTo>
                <a:cubicBezTo>
                  <a:pt x="187672" y="392906"/>
                  <a:pt x="214313" y="366266"/>
                  <a:pt x="214313" y="333375"/>
                </a:cubicBezTo>
                <a:lnTo>
                  <a:pt x="214313" y="321469"/>
                </a:lnTo>
                <a:close/>
                <a:moveTo>
                  <a:pt x="136922" y="83344"/>
                </a:moveTo>
                <a:cubicBezTo>
                  <a:pt x="107305" y="83344"/>
                  <a:pt x="83344" y="107305"/>
                  <a:pt x="83344" y="136922"/>
                </a:cubicBezTo>
                <a:cubicBezTo>
                  <a:pt x="83344" y="146819"/>
                  <a:pt x="75381" y="154781"/>
                  <a:pt x="65484" y="154781"/>
                </a:cubicBezTo>
                <a:cubicBezTo>
                  <a:pt x="55587" y="154781"/>
                  <a:pt x="47625" y="146819"/>
                  <a:pt x="47625" y="136922"/>
                </a:cubicBezTo>
                <a:cubicBezTo>
                  <a:pt x="47625" y="87585"/>
                  <a:pt x="87585" y="47625"/>
                  <a:pt x="136922" y="47625"/>
                </a:cubicBezTo>
                <a:cubicBezTo>
                  <a:pt x="146819" y="47625"/>
                  <a:pt x="154781" y="55587"/>
                  <a:pt x="154781" y="65484"/>
                </a:cubicBezTo>
                <a:cubicBezTo>
                  <a:pt x="154781" y="75381"/>
                  <a:pt x="146819" y="83344"/>
                  <a:pt x="136922" y="83344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0" name="Text 7"/>
          <p:cNvSpPr/>
          <p:nvPr/>
        </p:nvSpPr>
        <p:spPr>
          <a:xfrm>
            <a:off x="1841500" y="9398000"/>
            <a:ext cx="212725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92400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Finding:</a:t>
            </a:r>
            <a:r>
              <a:rPr lang="en-US" sz="2800" dirty="0">
                <a:solidFill>
                  <a:srgbClr val="92400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saving fraction S/Z</a:t>
            </a:r>
            <a:r>
              <a:rPr lang="en-US" sz="2800" baseline="-40000" dirty="0">
                <a:solidFill>
                  <a:srgbClr val="92400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before</a:t>
            </a:r>
            <a:r>
              <a:rPr lang="en-US" sz="2800" dirty="0">
                <a:solidFill>
                  <a:srgbClr val="92400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1 − c⁽ᵒ⁾/c⁽ᵖ⁾ = 1 − 0.8/1.2 = 1/3 ≈ 33.3% is the same for EVERY appliance — determined solely by the tariff ratio c⁽ᵖ⁾/c⁽ᵒ⁾ = 1.5, independent of appliance mix {Rᵢ}. The Refrigerator alone contributes Rs. 32,95,077 in savings (≈ 41% of total savings).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 rot="-5400000">
            <a:off x="20828000" y="114300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600" kern="0" spc="1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ELEC BILL MINIMIZATION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4500" cy="13716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20320000" y="1270000"/>
            <a:ext cx="3175000" cy="3175000"/>
          </a:xfrm>
          <a:prstGeom prst="ellipse">
            <a:avLst/>
          </a:prstGeom>
          <a:solidFill>
            <a:srgbClr val="10B981">
              <a:alpha val="6275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508000"/>
            <a:ext cx="152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Savings Visualization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16000" y="1460500"/>
            <a:ext cx="1524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 composition and savings efficiency across appliances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16000" y="2032000"/>
            <a:ext cx="22352000" cy="25400"/>
          </a:xfrm>
          <a:prstGeom prst="rect">
            <a:avLst/>
          </a:prstGeom>
          <a:solidFill>
            <a:srgbClr val="E2E8F0"/>
          </a:solidFill>
          <a:ln/>
        </p:spPr>
      </p:sp>
      <p:graphicFrame>
        <p:nvGraphicFramePr>
          <p:cNvPr id="7" name="Chart 0"/>
          <p:cNvGraphicFramePr/>
          <p:nvPr/>
        </p:nvGraphicFramePr>
        <p:xfrm>
          <a:off x="1016000" y="2349500"/>
          <a:ext cx="10795000" cy="660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1"/>
          <p:cNvGraphicFramePr/>
          <p:nvPr/>
        </p:nvGraphicFramePr>
        <p:xfrm>
          <a:off x="12319000" y="2349500"/>
          <a:ext cx="11049000" cy="660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5"/>
          <p:cNvSpPr/>
          <p:nvPr/>
        </p:nvSpPr>
        <p:spPr>
          <a:xfrm>
            <a:off x="1016000" y="9398000"/>
            <a:ext cx="22352000" cy="63500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270000" y="9398000"/>
            <a:ext cx="2184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Efficiency Ratio:</a:t>
            </a:r>
            <a:r>
              <a:rPr lang="en-US" sz="2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 = S / D = 79,80,249 / 23,83,687 = </a:t>
            </a:r>
            <a:r>
              <a:rPr lang="en-US" sz="24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Rs. 3.35 per kWh</a:t>
            </a:r>
            <a:r>
              <a:rPr lang="en-US" sz="2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shifted to off-peak (independent of which appliance provides the demand)</a:t>
            </a:r>
            <a:endParaRPr lang="en-US" dirty="0"/>
          </a:p>
        </p:txBody>
      </p:sp>
      <p:sp>
        <p:nvSpPr>
          <p:cNvPr id="11" name="Text 7"/>
          <p:cNvSpPr/>
          <p:nvPr/>
        </p:nvSpPr>
        <p:spPr>
          <a:xfrm rot="-5400000">
            <a:off x="20828000" y="114300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600" kern="0" spc="1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ELEC BILL MINIMIZATION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B9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gradFill flip="none" rotWithShape="1">
            <a:gsLst>
              <a:gs pos="0">
                <a:srgbClr val="10B981">
                  <a:alpha val="0"/>
                </a:srgbClr>
              </a:gs>
              <a:gs pos="100000">
                <a:srgbClr val="1A1A1A">
                  <a:alpha val="19000"/>
                </a:srgbClr>
              </a:gs>
            </a:gsLst>
            <a:lin ang="81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19050000" y="1270000"/>
            <a:ext cx="4445000" cy="4445000"/>
          </a:xfrm>
          <a:prstGeom prst="ellipse">
            <a:avLst/>
          </a:prstGeom>
          <a:solidFill>
            <a:srgbClr val="FFFFFF">
              <a:alpha val="6275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8890000"/>
            <a:ext cx="3175000" cy="3175000"/>
          </a:xfrm>
          <a:prstGeom prst="ellipse">
            <a:avLst/>
          </a:prstGeom>
          <a:solidFill>
            <a:srgbClr val="FFFFFF">
              <a:alpha val="3137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080000" y="7112000"/>
            <a:ext cx="14224000" cy="38100"/>
          </a:xfrm>
          <a:prstGeom prst="rect">
            <a:avLst/>
          </a:prstGeom>
          <a:solidFill>
            <a:srgbClr val="FFFFFF">
              <a:alpha val="18824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508000"/>
            <a:ext cx="22352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Stochastic Extension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1460500"/>
            <a:ext cx="2235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Robustness of the LP Result Under Random Tariff Uncertainty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16000" y="2032000"/>
            <a:ext cx="22352000" cy="25400"/>
          </a:xfrm>
          <a:prstGeom prst="rect">
            <a:avLst/>
          </a:prstGeom>
          <a:solidFill>
            <a:srgbClr val="FFFFFF">
              <a:alpha val="18824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16000" y="2540000"/>
            <a:ext cx="6858000" cy="4826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1016000" y="2540000"/>
            <a:ext cx="6858000" cy="635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2540000"/>
            <a:ext cx="660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 Tariff Model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3365500"/>
            <a:ext cx="6604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 ~ N(μ, σ²)</a:t>
            </a:r>
            <a:endParaRPr lang="en-US" sz="3600" dirty="0"/>
          </a:p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μ = 8.3696 Rs./kWh</a:t>
            </a:r>
            <a:endParaRPr lang="en-US" sz="3600" dirty="0"/>
          </a:p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σ = 0.5770 Rs./kWh</a:t>
            </a:r>
            <a:endParaRPr lang="en-US" sz="3600" dirty="0"/>
          </a:p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Peak Rate: </a:t>
            </a:r>
            <a:r>
              <a:rPr lang="en-US" sz="40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1.2C</a:t>
            </a:r>
            <a:endParaRPr lang="en-US" sz="3600" dirty="0"/>
          </a:p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Off-Peak Rate: </a:t>
            </a:r>
            <a:r>
              <a:rPr lang="en-US" sz="40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0.8C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8382000" y="2540000"/>
            <a:ext cx="6858000" cy="4826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8382000" y="2540000"/>
            <a:ext cx="6858000" cy="635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8509000" y="2540000"/>
            <a:ext cx="660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Expected Values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09000" y="3365500"/>
            <a:ext cx="6604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E[Z</a:t>
            </a:r>
            <a:r>
              <a:rPr lang="en-US" sz="3200" baseline="-40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before</a:t>
            </a:r>
            <a:r>
              <a:rPr lang="en-US" sz="3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] = 1.2μD</a:t>
            </a:r>
            <a:endParaRPr lang="en-US" sz="2800" dirty="0"/>
          </a:p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= Rs. 2,39,40,746</a:t>
            </a:r>
            <a:endParaRPr lang="en-US" sz="2800" dirty="0"/>
          </a:p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E[Z*] = 0.8μD</a:t>
            </a:r>
            <a:endParaRPr lang="en-US" sz="2800" dirty="0"/>
          </a:p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= Rs. 1,59,60,497</a:t>
            </a:r>
            <a:endParaRPr lang="en-US" sz="2800" dirty="0"/>
          </a:p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E[S] = 0.4μD = Rs. 79,80,249</a:t>
            </a:r>
            <a:endParaRPr lang="en-US" sz="2800" dirty="0"/>
          </a:p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SD[Z</a:t>
            </a:r>
            <a:r>
              <a:rPr lang="en-US" sz="3200" baseline="-40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before</a:t>
            </a:r>
            <a:r>
              <a:rPr lang="en-US" sz="3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] = Rs. 16,50,441</a:t>
            </a:r>
            <a:endParaRPr lang="en-US" sz="2800" dirty="0"/>
          </a:p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SD[Z*] = Rs. 11,00,294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15748000" y="2540000"/>
            <a:ext cx="6858000" cy="4826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15748000" y="2540000"/>
            <a:ext cx="6858000" cy="6350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9" name="Text 17"/>
          <p:cNvSpPr/>
          <p:nvPr/>
        </p:nvSpPr>
        <p:spPr>
          <a:xfrm>
            <a:off x="15875000" y="2540000"/>
            <a:ext cx="660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Robustness Proof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875000" y="3365500"/>
            <a:ext cx="6604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Savings = 0.4 · C · D &gt; 0</a:t>
            </a:r>
            <a:endParaRPr lang="en-US" sz="2400" dirty="0"/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whenever C &gt; 0</a:t>
            </a:r>
            <a:endParaRPr lang="en-US" sz="2400" dirty="0"/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</a:t>
            </a:r>
            <a:r>
              <a:rPr lang="en-US" sz="2800" baseline="-40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</a:t>
            </a:r>
            <a:r>
              <a:rPr lang="en-US" sz="2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7.40 &gt; 0 (from data)</a:t>
            </a:r>
            <a:endParaRPr lang="en-US" sz="2400" dirty="0"/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∴ </a:t>
            </a:r>
            <a:r>
              <a:rPr lang="en-US" sz="28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P(S &gt; 0) = 1</a:t>
            </a:r>
            <a:endParaRPr lang="en-US" sz="2400" dirty="0"/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Since savings are positive with probability 1, the LP result is robust to tariff uncertainty. The 33.3% saving fraction is preserved in expectation even when the tariff is random (C ~ Normal).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 rot="-5400000">
            <a:off x="20828000" y="114300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6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ELEC BILL MINIMIZATION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B9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042" y="48126"/>
            <a:ext cx="24384000" cy="13716000"/>
          </a:xfrm>
          <a:prstGeom prst="rect">
            <a:avLst/>
          </a:prstGeom>
          <a:gradFill flip="none" rotWithShape="1">
            <a:gsLst>
              <a:gs pos="0">
                <a:srgbClr val="10B981">
                  <a:alpha val="0"/>
                </a:srgbClr>
              </a:gs>
              <a:gs pos="100000">
                <a:srgbClr val="1A1A1A">
                  <a:alpha val="15000"/>
                </a:srgbClr>
              </a:gs>
            </a:gsLst>
            <a:lin ang="135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19685000" y="8890000"/>
            <a:ext cx="3810000" cy="3810000"/>
          </a:xfrm>
          <a:prstGeom prst="ellipse">
            <a:avLst/>
          </a:prstGeom>
          <a:solidFill>
            <a:srgbClr val="FFFFFF">
              <a:alpha val="6275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35000" y="635000"/>
            <a:ext cx="2540000" cy="2540000"/>
          </a:xfrm>
          <a:prstGeom prst="ellipse">
            <a:avLst/>
          </a:prstGeom>
          <a:solidFill>
            <a:srgbClr val="FFFFFF">
              <a:alpha val="3137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590800" y="5969000"/>
            <a:ext cx="19202400" cy="38100"/>
          </a:xfrm>
          <a:prstGeom prst="rect">
            <a:avLst/>
          </a:prstGeom>
          <a:solidFill>
            <a:srgbClr val="FFFFFF">
              <a:alpha val="18824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508000"/>
            <a:ext cx="22352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Limitations of the Study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1460500"/>
            <a:ext cx="2235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Scope boundaries and practical constraints of the LP model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16000" y="2032000"/>
            <a:ext cx="22352000" cy="25400"/>
          </a:xfrm>
          <a:prstGeom prst="rect">
            <a:avLst/>
          </a:prstGeom>
          <a:solidFill>
            <a:srgbClr val="FFFFFF">
              <a:alpha val="18824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2794000"/>
            <a:ext cx="8890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8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 Key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795000" y="2540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938000" y="2540000"/>
            <a:ext cx="1143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u="sng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Two-Period Tariff Approximation</a:t>
            </a:r>
            <a:endParaRPr lang="en-US" sz="1600" u="sng" dirty="0"/>
          </a:p>
        </p:txBody>
      </p:sp>
      <p:sp>
        <p:nvSpPr>
          <p:cNvPr id="12" name="Text 10"/>
          <p:cNvSpPr/>
          <p:nvPr/>
        </p:nvSpPr>
        <p:spPr>
          <a:xfrm>
            <a:off x="11938000" y="3048000"/>
            <a:ext cx="1143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model uses only two time periods (peak and off-peak). In reality, electricity tariffs vary continuously throughout the day. An hourly-indexed LP with 24 decision variables per appliance per day would be more precise but significantly more complex.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795000" y="4318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938000" y="4318000"/>
            <a:ext cx="1143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u="sng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Refrigerator Cannot Be Fully Shifted</a:t>
            </a:r>
            <a:endParaRPr lang="en-US" sz="1600" u="sng" dirty="0"/>
          </a:p>
        </p:txBody>
      </p:sp>
      <p:sp>
        <p:nvSpPr>
          <p:cNvPr id="15" name="Text 13"/>
          <p:cNvSpPr/>
          <p:nvPr/>
        </p:nvSpPr>
        <p:spPr>
          <a:xfrm>
            <a:off x="11938000" y="4826000"/>
            <a:ext cx="1143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Refrigerator accounts for ≈ 41% of total demand and must run continuously — it cannot realistically be entirely shifted to off-peak windows. A flexibility cap constraint xᵢ ≤ αᵢ · Rᵢ would reduce the achievable savings from 33.3%.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795000" y="6096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938000" y="6096000"/>
            <a:ext cx="1143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u="sng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Motor Pump Data is Zero</a:t>
            </a:r>
            <a:endParaRPr lang="en-US" sz="1600" u="sng" dirty="0"/>
          </a:p>
        </p:txBody>
      </p:sp>
      <p:sp>
        <p:nvSpPr>
          <p:cNvPr id="18" name="Text 16"/>
          <p:cNvSpPr/>
          <p:nvPr/>
        </p:nvSpPr>
        <p:spPr>
          <a:xfrm>
            <a:off x="11938000" y="6604000"/>
            <a:ext cx="1143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MotorPump column is uniformly zero across all 45,345 records in this dataset. Its real-world savings potential (it is a schedulable appliance) cannot be estimated from this data.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795000" y="7874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938000" y="7874000"/>
            <a:ext cx="1143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u="sng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Aggregate Cross-Section, Not One Household</a:t>
            </a:r>
            <a:endParaRPr lang="en-US" sz="1600" u="sng" dirty="0"/>
          </a:p>
        </p:txBody>
      </p:sp>
      <p:sp>
        <p:nvSpPr>
          <p:cNvPr id="21" name="Text 19"/>
          <p:cNvSpPr/>
          <p:nvPr/>
        </p:nvSpPr>
        <p:spPr>
          <a:xfrm>
            <a:off x="11938000" y="8382000"/>
            <a:ext cx="1143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total demand D = 23,83,687 kWh is the aggregate across all 45,345 households, not a single household's annual bill. The per-household interpretation requires dividing by n = 45,345</a:t>
            </a: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 rot="-5400000">
            <a:off x="20828000" y="114300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6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ELEC BILL MINIMIZATION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4500" cy="13716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20320000" y="1270000"/>
            <a:ext cx="3175000" cy="3175000"/>
          </a:xfrm>
          <a:prstGeom prst="ellipse">
            <a:avLst/>
          </a:prstGeom>
          <a:solidFill>
            <a:srgbClr val="10B981">
              <a:alpha val="6275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485900" y="5842000"/>
            <a:ext cx="11214100" cy="25400"/>
          </a:xfrm>
          <a:prstGeom prst="rect">
            <a:avLst/>
          </a:prstGeom>
          <a:solidFill>
            <a:srgbClr val="10B981">
              <a:alpha val="1451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508000"/>
            <a:ext cx="152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Directions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0" y="1460500"/>
            <a:ext cx="1524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Extensions and improvements to the current LP framework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16000" y="2032000"/>
            <a:ext cx="22352000" cy="25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6"/>
          <p:cNvSpPr/>
          <p:nvPr/>
        </p:nvSpPr>
        <p:spPr>
          <a:xfrm>
            <a:off x="1016000" y="2349500"/>
            <a:ext cx="10795000" cy="190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24765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2476500"/>
            <a:ext cx="939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Stochastic LP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3111500"/>
            <a:ext cx="1054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Minimise E</a:t>
            </a:r>
            <a:r>
              <a:rPr lang="en-US" sz="2400" baseline="-40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</a:t>
            </a:r>
            <a:r>
              <a:rPr lang="en-US" sz="2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[c⁽ᵒ⁾(C)·1ᵀx] with C ~ N(μ, σ²) explicitly in the solver. This accounts for tariff uncertainty directly in the optimisation rather than post-hoc.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2319000" y="2349500"/>
            <a:ext cx="11049000" cy="190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446000" y="24765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589000" y="2476500"/>
            <a:ext cx="965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Quadratic Programme (QP)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446000" y="3111500"/>
            <a:ext cx="1079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 a comfort penalty term γ/2 · ‖x − R‖² to the objective. This penalises over-shifting appliances beyond their demand Rᵢ, trading off savings against user comfort</a:t>
            </a: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1016000" y="5969000"/>
            <a:ext cx="10795000" cy="190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60960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286000" y="6096000"/>
            <a:ext cx="939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Time-Indexed Model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" y="6731000"/>
            <a:ext cx="1054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Introduce hourly decision variables xᵢₜ with time-varying tariffs cₜ, appliance capacity limits, and minimum run-time constraints. Captures real intraday demand patterns.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2319000" y="5969000"/>
            <a:ext cx="11049000" cy="190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446000" y="60960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589000" y="6096000"/>
            <a:ext cx="965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Smart-Meter Panel Data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446000" y="6731000"/>
            <a:ext cx="1079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Apply the LP framework to a single-household longitudinal dataset from smart meters for personalised bill optimisation. Enables appliance-specific flexibility modelling.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 rot="-5400000">
            <a:off x="20828000" y="114300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600" kern="0" spc="1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ELEC BILL MINIMIZATION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0B9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gradFill flip="none" rotWithShape="1">
            <a:gsLst>
              <a:gs pos="0">
                <a:srgbClr val="10B981">
                  <a:alpha val="0"/>
                </a:srgbClr>
              </a:gs>
              <a:gs pos="100000">
                <a:srgbClr val="1A1A1A">
                  <a:alpha val="13000"/>
                </a:srgbClr>
              </a:gs>
            </a:gsLst>
            <a:lin ang="108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19050000" y="8890000"/>
            <a:ext cx="4445000" cy="4445000"/>
          </a:xfrm>
          <a:prstGeom prst="ellipse">
            <a:avLst/>
          </a:prstGeom>
          <a:solidFill>
            <a:srgbClr val="FFFFFF">
              <a:alpha val="6275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270000"/>
            <a:ext cx="2540000" cy="2540000"/>
          </a:xfrm>
          <a:prstGeom prst="ellipse">
            <a:avLst/>
          </a:prstGeom>
          <a:solidFill>
            <a:srgbClr val="FFFFFF">
              <a:alpha val="3137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508000"/>
            <a:ext cx="22352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0" y="1460500"/>
            <a:ext cx="2235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Findings and Takeaways | Electricity Bill Minimization via LP | ISI Kolkata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16000" y="2032000"/>
            <a:ext cx="22352000" cy="25400"/>
          </a:xfrm>
          <a:prstGeom prst="rect">
            <a:avLst/>
          </a:prstGeom>
          <a:solidFill>
            <a:srgbClr val="FFFFFF">
              <a:alpha val="18824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2540000"/>
            <a:ext cx="4572000" cy="190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00000"/>
              </a:lnSpc>
            </a:pPr>
            <a:r>
              <a:rPr lang="en-US" sz="120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33.3%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4699000"/>
            <a:ext cx="8890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6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Guaranteed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6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Savings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795000" y="2540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chemeClr val="accent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>
              <a:solidFill>
                <a:schemeClr val="accent4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11938000" y="2540000"/>
            <a:ext cx="1143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u="sng" dirty="0">
                <a:solidFill>
                  <a:schemeClr val="accent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LP delivers provably optimal savings</a:t>
            </a:r>
            <a:endParaRPr lang="en-US" u="sng" dirty="0">
              <a:solidFill>
                <a:schemeClr val="accent4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938000" y="3048000"/>
            <a:ext cx="1143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KKT conditions uniquely determine the global optimum: x*ᵢ = Rᵢ ∀i — meaning all demand is scheduled off-peak. This is analytically proven, not heuristic or simulation-based.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795000" y="4318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chemeClr val="accent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>
              <a:solidFill>
                <a:schemeClr val="accent4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938000" y="4318000"/>
            <a:ext cx="1143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u="sng" dirty="0">
                <a:solidFill>
                  <a:schemeClr val="accent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1/3 savings arises from tariff structure alone</a:t>
            </a:r>
            <a:endParaRPr lang="en-US" u="sng" dirty="0">
              <a:solidFill>
                <a:schemeClr val="accent4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938000" y="4826000"/>
            <a:ext cx="1143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S/Z</a:t>
            </a:r>
            <a:r>
              <a:rPr lang="en-US" sz="2400" baseline="-40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before</a:t>
            </a: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(c⁽ᵖ⁾ − c⁽ᵒ⁾)/c⁽ᵖ⁾ = (1.2c̄ − 0.8c̄)/1.2c̄ = 0.4/1.2 = 1/3. This is independent of the appliance mix {Rᵢ} — only the tariff ratio c⁽ᵖ⁾/c⁽ᵒ⁾ = 1.5 matters.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795000" y="6096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chemeClr val="accent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>
              <a:solidFill>
                <a:schemeClr val="accent4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938000" y="6096000"/>
            <a:ext cx="1143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u="sng" dirty="0">
                <a:solidFill>
                  <a:schemeClr val="accent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Stochastic extension confirms robustness</a:t>
            </a:r>
            <a:endParaRPr lang="en-US" u="sng" dirty="0">
              <a:solidFill>
                <a:schemeClr val="accent4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938000" y="6604000"/>
            <a:ext cx="1143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E[S] = 0.4μD &gt; 0 with probability 1, even when C ~ N(μ, σ²). The 33.3% saving fraction is preserved in expectation under random tariff uncertainty.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795000" y="7874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chemeClr val="accent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>
              <a:solidFill>
                <a:schemeClr val="accent4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11938000" y="7874000"/>
            <a:ext cx="1143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u="sng" dirty="0">
                <a:solidFill>
                  <a:schemeClr val="accent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 financial result</a:t>
            </a:r>
            <a:endParaRPr lang="en-US" u="sng" dirty="0">
              <a:solidFill>
                <a:schemeClr val="accent4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11938000" y="8382000"/>
            <a:ext cx="1143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Annual bill: Rs. 2,39,40,746 → Rs. 1,59,60,497 — a saving of Rs. 79,80,249 at an efficiency of Rs. 3.35 per kWh shifted to off-peak.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016000" y="9906000"/>
            <a:ext cx="6858000" cy="1016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1016000" y="9906000"/>
            <a:ext cx="6858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33.3%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Guaranteed Savings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382000" y="9906000"/>
            <a:ext cx="6858000" cy="1016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8382000" y="9906000"/>
            <a:ext cx="6858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Rs.3.35 / kWh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Efficiency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5748000" y="9906000"/>
            <a:ext cx="6858000" cy="10160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7" name="Text 25"/>
          <p:cNvSpPr/>
          <p:nvPr/>
        </p:nvSpPr>
        <p:spPr>
          <a:xfrm>
            <a:off x="15748000" y="9906000"/>
            <a:ext cx="6858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100%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Robust to Uncertainty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 rot="-5400000">
            <a:off x="20828000" y="114300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6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ELEC BILL MINIMIZATION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0B9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4379" y="-77537"/>
            <a:ext cx="24384000" cy="13716000"/>
          </a:xfrm>
          <a:prstGeom prst="rect">
            <a:avLst/>
          </a:prstGeom>
          <a:gradFill flip="none" rotWithShape="1">
            <a:gsLst>
              <a:gs pos="0">
                <a:srgbClr val="10B981">
                  <a:alpha val="0"/>
                </a:srgbClr>
              </a:gs>
              <a:gs pos="100000">
                <a:srgbClr val="1A1A1A">
                  <a:alpha val="13000"/>
                </a:srgbClr>
              </a:gs>
            </a:gsLst>
            <a:lin ang="108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19050000" y="8890000"/>
            <a:ext cx="4445000" cy="4445000"/>
          </a:xfrm>
          <a:prstGeom prst="ellipse">
            <a:avLst/>
          </a:prstGeom>
          <a:solidFill>
            <a:srgbClr val="FFFFFF">
              <a:alpha val="6275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270000"/>
            <a:ext cx="2540000" cy="2540000"/>
          </a:xfrm>
          <a:prstGeom prst="ellipse">
            <a:avLst/>
          </a:prstGeom>
          <a:solidFill>
            <a:srgbClr val="FFFFFF">
              <a:alpha val="3137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2540000"/>
            <a:ext cx="223520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0" y="4318000"/>
            <a:ext cx="2235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u="sng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Course Instructor: Kaushik Jana | Optimization Using Numerical Methods | BSDS, ISI Kolkata</a:t>
            </a:r>
            <a:endParaRPr lang="en-US" sz="2000" b="1" u="sng" dirty="0"/>
          </a:p>
        </p:txBody>
      </p:sp>
      <p:sp>
        <p:nvSpPr>
          <p:cNvPr id="7" name="Text 5"/>
          <p:cNvSpPr/>
          <p:nvPr/>
        </p:nvSpPr>
        <p:spPr>
          <a:xfrm>
            <a:off x="1016000" y="5334000"/>
            <a:ext cx="2235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 Contributions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6096000"/>
            <a:ext cx="736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Ankesh Raj Aniket</a:t>
            </a:r>
            <a:r>
              <a:rPr lang="en-US" sz="2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(BSDCC2502)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16000" y="6540500"/>
            <a:ext cx="736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Mathematical formulation of the LP; convexity proof; KKT derivation; stochastic extension; preparation of Section 4</a:t>
            </a: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36000" y="6096000"/>
            <a:ext cx="736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Md Danish</a:t>
            </a:r>
            <a:r>
              <a:rPr lang="en-US" sz="2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(BSDCC2510</a:t>
            </a: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36000" y="6540500"/>
            <a:ext cx="736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collection, cleaning, and descriptive analysis; lpSolve implementation in R; generation of all four figures</a:t>
            </a:r>
            <a:r>
              <a:rPr lang="en-US" sz="3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16256000" y="6096000"/>
            <a:ext cx="736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Dunga Pardha Saradhi</a:t>
            </a:r>
            <a:r>
              <a:rPr lang="en-US" sz="2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(BSDCC2506</a:t>
            </a: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256000" y="6540500"/>
            <a:ext cx="736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Sections 1, 2, 3, and 5; preparation of all tables; final LaTeX typesetting and proofreading</a:t>
            </a: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16000" y="8255000"/>
            <a:ext cx="2235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807242" y="8763000"/>
            <a:ext cx="13242757" cy="311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800" b="1" dirty="0">
                <a:solidFill>
                  <a:schemeClr val="bg1"/>
                </a:solidFill>
              </a:rPr>
              <a:t>ANY QUESTIONS ?</a:t>
            </a:r>
          </a:p>
        </p:txBody>
      </p:sp>
      <p:sp>
        <p:nvSpPr>
          <p:cNvPr id="16" name="Text 14"/>
          <p:cNvSpPr/>
          <p:nvPr/>
        </p:nvSpPr>
        <p:spPr>
          <a:xfrm rot="-5400000">
            <a:off x="20828000" y="114300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6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ELEC BILL MINIMIZATION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2574</Words>
  <Application>Microsoft Office PowerPoint</Application>
  <PresentationFormat>Custom</PresentationFormat>
  <Paragraphs>440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Liter</vt:lpstr>
      <vt:lpstr>Quattrocento Sans</vt:lpstr>
      <vt:lpstr>Arial</vt:lpstr>
      <vt:lpstr>QuattrocentoSans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Electricity Bill Minimization via Linear Programming</dc:title>
  <dc:subject>Electricity Bill Minimization via Linear Programming</dc:subject>
  <dc:creator>Kimi</dc:creator>
  <cp:lastModifiedBy>ANKESH RAJ ANIKET</cp:lastModifiedBy>
  <cp:revision>2</cp:revision>
  <dcterms:created xsi:type="dcterms:W3CDTF">2026-05-04T03:03:39Z</dcterms:created>
  <dcterms:modified xsi:type="dcterms:W3CDTF">2026-05-04T03:24:12Z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{"Label":"Electricity Bill Minimization via Linear Programming","ContentProducer":"001191110108MACG2KBH8F10000","ProduceID":"19df0ebd-69f2-8e0f-8000-00007b7cfc0f","ReservedCode1":"","ContentPropagator":"001191110108MACG2KBH8F20000","PropagateID":"19df0ebd-69f2-8e0f-8000-00007b7cfc0f","ReservedCode2":""}</vt:lpwstr>
  </property>
</Properties>
</file>